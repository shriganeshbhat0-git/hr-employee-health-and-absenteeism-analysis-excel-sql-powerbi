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8DC15-EAA6-A0F9-9BFC-CCCBD8FAE0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126CFD-85DA-279A-0139-85A43AF984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517711-A72A-6E99-E4C7-4874F49980B3}"/>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5" name="Footer Placeholder 4">
            <a:extLst>
              <a:ext uri="{FF2B5EF4-FFF2-40B4-BE49-F238E27FC236}">
                <a16:creationId xmlns:a16="http://schemas.microsoft.com/office/drawing/2014/main" id="{960B35CA-3DAD-C954-486D-043FF54C4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EB9869-9B13-82A6-8704-35BEDF223F86}"/>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310363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6681-4C9C-97F8-C59B-1B94FFA4E0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846E0D-8B3D-BDBC-1421-68C63D3755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D8A690-EADD-AF04-4616-0D6CD7CCA221}"/>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5" name="Footer Placeholder 4">
            <a:extLst>
              <a:ext uri="{FF2B5EF4-FFF2-40B4-BE49-F238E27FC236}">
                <a16:creationId xmlns:a16="http://schemas.microsoft.com/office/drawing/2014/main" id="{B1ED80D0-5F70-771F-0CDD-950E727C8A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44528E-D846-A87C-37F6-E25E8ADF1E88}"/>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2403342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E381-396C-CA42-993A-95D69688D3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FC7550-8FE5-5625-1371-ECE3D66A3E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44EA91-5A61-FA85-8A7F-F16FDF5051A2}"/>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5" name="Footer Placeholder 4">
            <a:extLst>
              <a:ext uri="{FF2B5EF4-FFF2-40B4-BE49-F238E27FC236}">
                <a16:creationId xmlns:a16="http://schemas.microsoft.com/office/drawing/2014/main" id="{978FBB67-4B8D-BA73-4F33-B926AF46DD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46A87-88D0-03EC-4EDA-7B8DC5E38EBF}"/>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1164444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5BBB6-EB5A-4DC4-0BCD-38FD4CAA92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2639B2-1347-69D6-2558-58797B65D8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2B0A48-50B2-2110-08E6-850956BFDC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086FAF7-EA89-3373-7255-E6AB0452A1FA}"/>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6" name="Footer Placeholder 5">
            <a:extLst>
              <a:ext uri="{FF2B5EF4-FFF2-40B4-BE49-F238E27FC236}">
                <a16:creationId xmlns:a16="http://schemas.microsoft.com/office/drawing/2014/main" id="{273262B0-ED16-E436-2F01-05BBD51F4E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65019D-F855-F02D-1FCA-6349B81F374D}"/>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306456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4785D-2C82-C1D7-9FE7-72DCCEC955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290F8C-C21A-8C0E-34BC-5DB1803298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2CB372-DAF9-D0E4-B4C4-EA2C64B8EC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302688-09B7-98E9-0E13-AA301ED6E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F05329-62AF-B7DF-CD2B-449E59E6F0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F23C22-9079-BD0A-A6E8-7253D0AF77A3}"/>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8" name="Footer Placeholder 7">
            <a:extLst>
              <a:ext uri="{FF2B5EF4-FFF2-40B4-BE49-F238E27FC236}">
                <a16:creationId xmlns:a16="http://schemas.microsoft.com/office/drawing/2014/main" id="{4BB3B9D8-CB87-0CC9-25E8-4D2E6FC452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C3FE87-F516-CF11-FDDF-8EF50EC21D7B}"/>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1996742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BCE71-B5E0-ECBC-D669-9D4E7601C90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2B90AA-91F9-3FDF-CD79-80963F509175}"/>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4" name="Footer Placeholder 3">
            <a:extLst>
              <a:ext uri="{FF2B5EF4-FFF2-40B4-BE49-F238E27FC236}">
                <a16:creationId xmlns:a16="http://schemas.microsoft.com/office/drawing/2014/main" id="{F01440C8-92BB-A3B3-0ABA-387777AC97D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14C691C-F4CA-8D22-DBA5-DAE23D157F5B}"/>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290529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846264-8D2E-822B-3285-8B788A78058F}"/>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3" name="Footer Placeholder 2">
            <a:extLst>
              <a:ext uri="{FF2B5EF4-FFF2-40B4-BE49-F238E27FC236}">
                <a16:creationId xmlns:a16="http://schemas.microsoft.com/office/drawing/2014/main" id="{C880A971-1D56-F6B5-61AB-611CBF295B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72C5D1-4B9B-E819-A1CA-3670A30BE44A}"/>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1362318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67A3E-CA1B-5D5A-6326-71C671C293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BE33F7-4415-5F71-DE0D-906EC84FD2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67E6B3-C44C-1491-97F6-4DFD88E96B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C7C24-3D59-211A-5E4D-E0B29970DE85}"/>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6" name="Footer Placeholder 5">
            <a:extLst>
              <a:ext uri="{FF2B5EF4-FFF2-40B4-BE49-F238E27FC236}">
                <a16:creationId xmlns:a16="http://schemas.microsoft.com/office/drawing/2014/main" id="{F0F1B3F9-C9FC-616F-24E1-E2A25FDFD6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475B8D-1796-8C4C-EAD7-71628E925E38}"/>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2975176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C7F26-A5F5-1D3F-2514-8E7BE66249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7AE497-C0F1-F6E3-EC6C-F15404E821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FFB299-B4F2-891A-C81A-00020607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20D510-FDC6-6FAC-0D10-D6F28D1BEAC5}"/>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6" name="Footer Placeholder 5">
            <a:extLst>
              <a:ext uri="{FF2B5EF4-FFF2-40B4-BE49-F238E27FC236}">
                <a16:creationId xmlns:a16="http://schemas.microsoft.com/office/drawing/2014/main" id="{8998688F-4E77-EF08-C3F2-197E786E6D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7F57E3-83AF-2E98-4EB5-464A15BA1337}"/>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2151860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368D7-AB82-229B-E1F7-79CF5B1706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ACBBB1-0A9F-F06F-4009-C49288F393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B8E025-CBF1-E37C-6A5D-757F3839C283}"/>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5" name="Footer Placeholder 4">
            <a:extLst>
              <a:ext uri="{FF2B5EF4-FFF2-40B4-BE49-F238E27FC236}">
                <a16:creationId xmlns:a16="http://schemas.microsoft.com/office/drawing/2014/main" id="{D7F8454B-77B7-798C-5A36-74CE6F65FC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C41EDB-9D46-0E4A-8935-8B15F189682C}"/>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563832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956DE1-9350-1BD2-D7F0-7BE410DAD9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1C3C58-5EFF-94A2-9A42-1BC1FEB9B3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BD616D-6D3C-68AC-D8C3-75E5F181AC04}"/>
              </a:ext>
            </a:extLst>
          </p:cNvPr>
          <p:cNvSpPr>
            <a:spLocks noGrp="1"/>
          </p:cNvSpPr>
          <p:nvPr>
            <p:ph type="dt" sz="half" idx="10"/>
          </p:nvPr>
        </p:nvSpPr>
        <p:spPr/>
        <p:txBody>
          <a:bodyPr/>
          <a:lstStyle/>
          <a:p>
            <a:fld id="{3351F182-72C5-4FED-A6EB-50A50C0221A7}" type="datetimeFigureOut">
              <a:rPr lang="en-IN" smtClean="0"/>
              <a:t>03-12-2025</a:t>
            </a:fld>
            <a:endParaRPr lang="en-IN"/>
          </a:p>
        </p:txBody>
      </p:sp>
      <p:sp>
        <p:nvSpPr>
          <p:cNvPr id="5" name="Footer Placeholder 4">
            <a:extLst>
              <a:ext uri="{FF2B5EF4-FFF2-40B4-BE49-F238E27FC236}">
                <a16:creationId xmlns:a16="http://schemas.microsoft.com/office/drawing/2014/main" id="{DC9FD72B-B846-7438-0791-2D2F6030A5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D33D91-DD81-7889-9012-CC587B681853}"/>
              </a:ext>
            </a:extLst>
          </p:cNvPr>
          <p:cNvSpPr>
            <a:spLocks noGrp="1"/>
          </p:cNvSpPr>
          <p:nvPr>
            <p:ph type="sldNum" sz="quarter" idx="12"/>
          </p:nvPr>
        </p:nvSpPr>
        <p:spPr/>
        <p:txBody>
          <a:bodyPr/>
          <a:lstStyle/>
          <a:p>
            <a:fld id="{6FB57701-9DB6-4C47-A729-1BD0CEAA4345}" type="slidenum">
              <a:rPr lang="en-IN" smtClean="0"/>
              <a:t>‹#›</a:t>
            </a:fld>
            <a:endParaRPr lang="en-IN"/>
          </a:p>
        </p:txBody>
      </p:sp>
    </p:spTree>
    <p:extLst>
      <p:ext uri="{BB962C8B-B14F-4D97-AF65-F5344CB8AC3E}">
        <p14:creationId xmlns:p14="http://schemas.microsoft.com/office/powerpoint/2010/main" val="83875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25A719-F64D-C62D-CF2E-9D015DF9CF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579A62-1C30-1A85-7A7F-E8305D94F6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233EAE-B206-8365-9D72-603A0EB094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51F182-72C5-4FED-A6EB-50A50C0221A7}" type="datetimeFigureOut">
              <a:rPr lang="en-IN" smtClean="0"/>
              <a:t>03-12-2025</a:t>
            </a:fld>
            <a:endParaRPr lang="en-IN"/>
          </a:p>
        </p:txBody>
      </p:sp>
      <p:sp>
        <p:nvSpPr>
          <p:cNvPr id="5" name="Footer Placeholder 4">
            <a:extLst>
              <a:ext uri="{FF2B5EF4-FFF2-40B4-BE49-F238E27FC236}">
                <a16:creationId xmlns:a16="http://schemas.microsoft.com/office/drawing/2014/main" id="{F4344163-083B-AEBF-CFB1-F5A919D535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922A314-EF78-CADC-5AC8-8263AA65D0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57701-9DB6-4C47-A729-1BD0CEAA4345}" type="slidenum">
              <a:rPr lang="en-IN" smtClean="0"/>
              <a:t>‹#›</a:t>
            </a:fld>
            <a:endParaRPr lang="en-IN"/>
          </a:p>
        </p:txBody>
      </p:sp>
    </p:spTree>
    <p:extLst>
      <p:ext uri="{BB962C8B-B14F-4D97-AF65-F5344CB8AC3E}">
        <p14:creationId xmlns:p14="http://schemas.microsoft.com/office/powerpoint/2010/main" val="3710528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EE23A9-1128-29AA-4AB2-5C9CD29680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56433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691453-A54E-13AF-197D-FFD28C60A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86" y="0"/>
            <a:ext cx="12158227" cy="6858000"/>
          </a:xfrm>
          <a:prstGeom prst="rect">
            <a:avLst/>
          </a:prstGeom>
        </p:spPr>
      </p:pic>
    </p:spTree>
    <p:extLst>
      <p:ext uri="{BB962C8B-B14F-4D97-AF65-F5344CB8AC3E}">
        <p14:creationId xmlns:p14="http://schemas.microsoft.com/office/powerpoint/2010/main" val="1238897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D3E19F-6155-E368-19A1-01A7F69AA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5" y="0"/>
            <a:ext cx="12175090" cy="6858000"/>
          </a:xfrm>
          <a:prstGeom prst="rect">
            <a:avLst/>
          </a:prstGeom>
        </p:spPr>
      </p:pic>
    </p:spTree>
    <p:extLst>
      <p:ext uri="{BB962C8B-B14F-4D97-AF65-F5344CB8AC3E}">
        <p14:creationId xmlns:p14="http://schemas.microsoft.com/office/powerpoint/2010/main" val="2971604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21C62C-BCD5-AD42-63E6-EC1F87EBDB67}"/>
              </a:ext>
            </a:extLst>
          </p:cNvPr>
          <p:cNvSpPr/>
          <p:nvPr/>
        </p:nvSpPr>
        <p:spPr>
          <a:xfrm>
            <a:off x="943897" y="535858"/>
            <a:ext cx="10540180" cy="57125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BB32A44A-098E-8F7D-22D7-E63D8A71ED43}"/>
              </a:ext>
            </a:extLst>
          </p:cNvPr>
          <p:cNvSpPr txBox="1"/>
          <p:nvPr/>
        </p:nvSpPr>
        <p:spPr>
          <a:xfrm>
            <a:off x="1120876" y="688258"/>
            <a:ext cx="10215717" cy="2308324"/>
          </a:xfrm>
          <a:prstGeom prst="rect">
            <a:avLst/>
          </a:prstGeom>
          <a:noFill/>
        </p:spPr>
        <p:txBody>
          <a:bodyPr wrap="square" rtlCol="0">
            <a:spAutoFit/>
          </a:bodyPr>
          <a:lstStyle/>
          <a:p>
            <a:r>
              <a:rPr lang="en-US" b="1"/>
              <a:t>1. Short Overview</a:t>
            </a:r>
          </a:p>
          <a:p>
            <a:r>
              <a:rPr lang="en-US"/>
              <a:t>This HR Analytics project focuses on analysing employee data to understand patterns related to performance, satisfaction, attrition, salary structure, promotions, and workforce distribution.</a:t>
            </a:r>
            <a:br>
              <a:rPr lang="en-US"/>
            </a:br>
            <a:r>
              <a:rPr lang="en-US"/>
              <a:t>Using SQL for data extraction and cleaning, followed by dashboard creation using visualization tools, the project aims to help the HR department make data-driven decisions regarding employee retention, hiring strategies, workload balancing, and policy adjustments.</a:t>
            </a:r>
          </a:p>
          <a:p>
            <a:r>
              <a:rPr lang="en-US"/>
              <a:t>The report covers dataset information, SQL operations performed, dashboard details, insights generated, and final recommendations based on data.</a:t>
            </a:r>
          </a:p>
        </p:txBody>
      </p:sp>
      <p:sp>
        <p:nvSpPr>
          <p:cNvPr id="4" name="TextBox 3">
            <a:extLst>
              <a:ext uri="{FF2B5EF4-FFF2-40B4-BE49-F238E27FC236}">
                <a16:creationId xmlns:a16="http://schemas.microsoft.com/office/drawing/2014/main" id="{FCFAD147-A11B-D31B-CE6C-7E48F5D685CC}"/>
              </a:ext>
            </a:extLst>
          </p:cNvPr>
          <p:cNvSpPr txBox="1"/>
          <p:nvPr/>
        </p:nvSpPr>
        <p:spPr>
          <a:xfrm>
            <a:off x="1170039" y="3468329"/>
            <a:ext cx="10314038" cy="2308324"/>
          </a:xfrm>
          <a:prstGeom prst="rect">
            <a:avLst/>
          </a:prstGeom>
          <a:noFill/>
        </p:spPr>
        <p:txBody>
          <a:bodyPr wrap="square" rtlCol="0">
            <a:spAutoFit/>
          </a:bodyPr>
          <a:lstStyle/>
          <a:p>
            <a:r>
              <a:rPr lang="en-US" b="1"/>
              <a:t>2. Objectives</a:t>
            </a:r>
          </a:p>
          <a:p>
            <a:r>
              <a:rPr lang="en-US"/>
              <a:t>The main objectives of this project were:</a:t>
            </a:r>
          </a:p>
          <a:p>
            <a:r>
              <a:rPr lang="en-US" b="1"/>
              <a:t>Analyse employee attrition</a:t>
            </a:r>
            <a:r>
              <a:rPr lang="en-US"/>
              <a:t> and identify which groups are at the highest risk of leaving.</a:t>
            </a:r>
          </a:p>
          <a:p>
            <a:r>
              <a:rPr lang="en-US" b="1"/>
              <a:t>Understand relationships</a:t>
            </a:r>
            <a:r>
              <a:rPr lang="en-US"/>
              <a:t> between employee satisfaction, workload, salary levels, and performance.</a:t>
            </a:r>
          </a:p>
          <a:p>
            <a:r>
              <a:rPr lang="en-US" b="1"/>
              <a:t>Study workforce distribution</a:t>
            </a:r>
            <a:r>
              <a:rPr lang="en-US"/>
              <a:t> across departments, job roles, and experience levels.</a:t>
            </a:r>
          </a:p>
          <a:p>
            <a:r>
              <a:rPr lang="en-US" b="1"/>
              <a:t>Identify factors</a:t>
            </a:r>
            <a:r>
              <a:rPr lang="en-US"/>
              <a:t> influencing employee promotion cycles and retention.</a:t>
            </a:r>
          </a:p>
          <a:p>
            <a:r>
              <a:rPr lang="en-US" b="1"/>
              <a:t>Develop a visual dashboard</a:t>
            </a:r>
            <a:r>
              <a:rPr lang="en-US"/>
              <a:t> to help HR quickly interpret employee trends.</a:t>
            </a:r>
          </a:p>
          <a:p>
            <a:r>
              <a:rPr lang="en-US" b="1"/>
              <a:t>Provide actionable recommendations</a:t>
            </a:r>
            <a:r>
              <a:rPr lang="en-US"/>
              <a:t> based on insights extracted from SQL queries and visualizations.</a:t>
            </a:r>
          </a:p>
        </p:txBody>
      </p:sp>
    </p:spTree>
    <p:extLst>
      <p:ext uri="{BB962C8B-B14F-4D97-AF65-F5344CB8AC3E}">
        <p14:creationId xmlns:p14="http://schemas.microsoft.com/office/powerpoint/2010/main" val="159023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4EA24A-D328-8C53-D9D0-2D83FBAEC62E}"/>
              </a:ext>
            </a:extLst>
          </p:cNvPr>
          <p:cNvSpPr/>
          <p:nvPr/>
        </p:nvSpPr>
        <p:spPr>
          <a:xfrm>
            <a:off x="560439" y="508819"/>
            <a:ext cx="11169445" cy="58403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A620013C-90A6-F109-3E04-3E1BF5A7482A}"/>
              </a:ext>
            </a:extLst>
          </p:cNvPr>
          <p:cNvSpPr txBox="1"/>
          <p:nvPr/>
        </p:nvSpPr>
        <p:spPr>
          <a:xfrm>
            <a:off x="914399" y="889843"/>
            <a:ext cx="10972800" cy="5078313"/>
          </a:xfrm>
          <a:prstGeom prst="rect">
            <a:avLst/>
          </a:prstGeom>
          <a:noFill/>
        </p:spPr>
        <p:txBody>
          <a:bodyPr wrap="square" rtlCol="0">
            <a:spAutoFit/>
          </a:bodyPr>
          <a:lstStyle/>
          <a:p>
            <a:r>
              <a:rPr lang="en-US" b="1"/>
              <a:t>3. Tools Used</a:t>
            </a:r>
          </a:p>
          <a:p>
            <a:r>
              <a:rPr lang="en-US"/>
              <a:t>These were the tools used in the project:</a:t>
            </a:r>
          </a:p>
          <a:p>
            <a:r>
              <a:rPr lang="en-US" b="1"/>
              <a:t>1. SQL Server</a:t>
            </a:r>
          </a:p>
          <a:p>
            <a:r>
              <a:rPr lang="en-US"/>
              <a:t>Used for:</a:t>
            </a:r>
          </a:p>
          <a:p>
            <a:r>
              <a:rPr lang="en-US"/>
              <a:t>Data import</a:t>
            </a:r>
          </a:p>
          <a:p>
            <a:r>
              <a:rPr lang="en-US"/>
              <a:t>Data cleaning</a:t>
            </a:r>
          </a:p>
          <a:p>
            <a:r>
              <a:rPr lang="en-US"/>
              <a:t>Data transformation</a:t>
            </a:r>
          </a:p>
          <a:p>
            <a:r>
              <a:rPr lang="en-US"/>
              <a:t>Running analytical queries</a:t>
            </a:r>
          </a:p>
          <a:p>
            <a:r>
              <a:rPr lang="en-US"/>
              <a:t>Extracting insights</a:t>
            </a:r>
          </a:p>
          <a:p>
            <a:r>
              <a:rPr lang="en-US" b="1"/>
              <a:t>2. Excel</a:t>
            </a:r>
          </a:p>
          <a:p>
            <a:r>
              <a:rPr lang="en-US"/>
              <a:t>Used for:</a:t>
            </a:r>
          </a:p>
          <a:p>
            <a:r>
              <a:rPr lang="en-US"/>
              <a:t>Quick exploration of the raw dataset</a:t>
            </a:r>
          </a:p>
          <a:p>
            <a:r>
              <a:rPr lang="en-US"/>
              <a:t>Minor data formatting checks</a:t>
            </a:r>
          </a:p>
          <a:p>
            <a:r>
              <a:rPr lang="en-US" b="1"/>
              <a:t>3. Power BI / Tableau (whichever you used)</a:t>
            </a:r>
          </a:p>
          <a:p>
            <a:r>
              <a:rPr lang="en-US"/>
              <a:t>Used for:</a:t>
            </a:r>
          </a:p>
          <a:p>
            <a:r>
              <a:rPr lang="en-US"/>
              <a:t>Visualizing employee-related KPIs</a:t>
            </a:r>
          </a:p>
          <a:p>
            <a:r>
              <a:rPr lang="en-US"/>
              <a:t>Interactive dashboards for HR</a:t>
            </a:r>
          </a:p>
          <a:p>
            <a:r>
              <a:rPr lang="en-US"/>
              <a:t>Representing attrition, performance, salary, and workload insights</a:t>
            </a:r>
          </a:p>
        </p:txBody>
      </p:sp>
    </p:spTree>
    <p:extLst>
      <p:ext uri="{BB962C8B-B14F-4D97-AF65-F5344CB8AC3E}">
        <p14:creationId xmlns:p14="http://schemas.microsoft.com/office/powerpoint/2010/main" val="875884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4340A5-61DC-6632-4763-1FDC5AC1316A}"/>
              </a:ext>
            </a:extLst>
          </p:cNvPr>
          <p:cNvSpPr/>
          <p:nvPr/>
        </p:nvSpPr>
        <p:spPr>
          <a:xfrm>
            <a:off x="796413" y="459658"/>
            <a:ext cx="10844981" cy="59386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EC06CC37-966E-052F-1C50-0421A205CF64}"/>
              </a:ext>
            </a:extLst>
          </p:cNvPr>
          <p:cNvSpPr txBox="1"/>
          <p:nvPr/>
        </p:nvSpPr>
        <p:spPr>
          <a:xfrm>
            <a:off x="943896" y="459658"/>
            <a:ext cx="10550013" cy="6001643"/>
          </a:xfrm>
          <a:prstGeom prst="rect">
            <a:avLst/>
          </a:prstGeom>
          <a:noFill/>
        </p:spPr>
        <p:txBody>
          <a:bodyPr wrap="square" rtlCol="0">
            <a:spAutoFit/>
          </a:bodyPr>
          <a:lstStyle/>
          <a:p>
            <a:r>
              <a:rPr lang="en-US" sz="1600" b="1" dirty="0"/>
              <a:t>4. About the Dataset</a:t>
            </a:r>
          </a:p>
          <a:p>
            <a:r>
              <a:rPr lang="en-US" sz="1600" dirty="0"/>
              <a:t>The dataset contains detailed employee information, typically including:</a:t>
            </a:r>
          </a:p>
          <a:p>
            <a:r>
              <a:rPr lang="en-US" sz="1600" b="1" dirty="0"/>
              <a:t>Employee ID</a:t>
            </a:r>
            <a:endParaRPr lang="en-US" sz="1600" dirty="0"/>
          </a:p>
          <a:p>
            <a:r>
              <a:rPr lang="en-US" sz="1600" b="1" dirty="0"/>
              <a:t>Age</a:t>
            </a:r>
            <a:endParaRPr lang="en-US" sz="1600" dirty="0"/>
          </a:p>
          <a:p>
            <a:r>
              <a:rPr lang="en-US" sz="1600" b="1" dirty="0"/>
              <a:t>Gender</a:t>
            </a:r>
            <a:endParaRPr lang="en-US" sz="1600" dirty="0"/>
          </a:p>
          <a:p>
            <a:r>
              <a:rPr lang="en-US" sz="1600" b="1" dirty="0"/>
              <a:t>Department</a:t>
            </a:r>
            <a:endParaRPr lang="en-US" sz="1600" dirty="0"/>
          </a:p>
          <a:p>
            <a:r>
              <a:rPr lang="en-US" sz="1600" b="1" dirty="0"/>
              <a:t>Job Role</a:t>
            </a:r>
            <a:endParaRPr lang="en-US" sz="1600" dirty="0"/>
          </a:p>
          <a:p>
            <a:r>
              <a:rPr lang="en-US" sz="1600" b="1" dirty="0"/>
              <a:t>Monthly Income</a:t>
            </a:r>
            <a:endParaRPr lang="en-US" sz="1600" dirty="0"/>
          </a:p>
          <a:p>
            <a:r>
              <a:rPr lang="en-US" sz="1600" b="1" dirty="0"/>
              <a:t>Total Working Years</a:t>
            </a:r>
            <a:endParaRPr lang="en-US" sz="1600" dirty="0"/>
          </a:p>
          <a:p>
            <a:r>
              <a:rPr lang="en-US" sz="1600" b="1" dirty="0"/>
              <a:t>Years at Company</a:t>
            </a:r>
            <a:endParaRPr lang="en-US" sz="1600" dirty="0"/>
          </a:p>
          <a:p>
            <a:r>
              <a:rPr lang="en-US" sz="1600" b="1" dirty="0"/>
              <a:t>Years Since Last Promotion</a:t>
            </a:r>
            <a:endParaRPr lang="en-US" sz="1600" dirty="0"/>
          </a:p>
          <a:p>
            <a:r>
              <a:rPr lang="en-US" sz="1600" b="1" dirty="0"/>
              <a:t>Job Satisfaction Score</a:t>
            </a:r>
            <a:endParaRPr lang="en-US" sz="1600" dirty="0"/>
          </a:p>
          <a:p>
            <a:r>
              <a:rPr lang="en-US" sz="1600" b="1" dirty="0"/>
              <a:t>Work-Life Balance Rating</a:t>
            </a:r>
            <a:endParaRPr lang="en-US" sz="1600" dirty="0"/>
          </a:p>
          <a:p>
            <a:r>
              <a:rPr lang="en-US" sz="1600" b="1" dirty="0"/>
              <a:t>Overtime (Yes/No)</a:t>
            </a:r>
            <a:endParaRPr lang="en-US" sz="1600" dirty="0"/>
          </a:p>
          <a:p>
            <a:r>
              <a:rPr lang="en-US" sz="1600" b="1" dirty="0"/>
              <a:t>Attrition (Yes/No)</a:t>
            </a:r>
            <a:endParaRPr lang="en-US" sz="1600" dirty="0"/>
          </a:p>
          <a:p>
            <a:r>
              <a:rPr lang="en-US" sz="1600" b="1" dirty="0"/>
              <a:t>Education Level</a:t>
            </a:r>
            <a:endParaRPr lang="en-US" sz="1600" dirty="0"/>
          </a:p>
          <a:p>
            <a:r>
              <a:rPr lang="en-US" sz="1600" b="1" dirty="0"/>
              <a:t>Marital Status</a:t>
            </a:r>
            <a:endParaRPr lang="en-US" sz="1600" dirty="0"/>
          </a:p>
          <a:p>
            <a:r>
              <a:rPr lang="en-US" sz="1600" b="1" dirty="0"/>
              <a:t>Performance Rating</a:t>
            </a:r>
            <a:endParaRPr lang="en-US" sz="1600" dirty="0"/>
          </a:p>
          <a:p>
            <a:r>
              <a:rPr lang="en-US" sz="1600" b="1" dirty="0"/>
              <a:t>Dataset Size</a:t>
            </a:r>
          </a:p>
          <a:p>
            <a:r>
              <a:rPr lang="en-US" sz="1600" dirty="0"/>
              <a:t>Approx. 1,470 employee records (standard HR dataset size)</a:t>
            </a:r>
          </a:p>
          <a:p>
            <a:r>
              <a:rPr lang="en-US" sz="1600" dirty="0"/>
              <a:t>Around 30–35 columns of information</a:t>
            </a:r>
          </a:p>
          <a:p>
            <a:r>
              <a:rPr lang="en-US" sz="1600" b="1" dirty="0"/>
              <a:t>Purpose of the Dataset</a:t>
            </a:r>
          </a:p>
          <a:p>
            <a:r>
              <a:rPr lang="en-US" sz="1600" dirty="0"/>
              <a:t>To evaluate employee sentiment, performance, and retention factors and provide insights to the HR department for informed decision-making.</a:t>
            </a:r>
          </a:p>
        </p:txBody>
      </p:sp>
    </p:spTree>
    <p:extLst>
      <p:ext uri="{BB962C8B-B14F-4D97-AF65-F5344CB8AC3E}">
        <p14:creationId xmlns:p14="http://schemas.microsoft.com/office/powerpoint/2010/main" val="902654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C3E427-6315-B941-4E99-9F0E292A3DAB}"/>
              </a:ext>
            </a:extLst>
          </p:cNvPr>
          <p:cNvSpPr/>
          <p:nvPr/>
        </p:nvSpPr>
        <p:spPr>
          <a:xfrm>
            <a:off x="486696" y="452284"/>
            <a:ext cx="11218607" cy="57813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0ED0B208-E814-14AF-89D0-D2F036F08212}"/>
              </a:ext>
            </a:extLst>
          </p:cNvPr>
          <p:cNvSpPr txBox="1"/>
          <p:nvPr/>
        </p:nvSpPr>
        <p:spPr>
          <a:xfrm>
            <a:off x="599767" y="624348"/>
            <a:ext cx="11031793" cy="5632311"/>
          </a:xfrm>
          <a:prstGeom prst="rect">
            <a:avLst/>
          </a:prstGeom>
          <a:noFill/>
        </p:spPr>
        <p:txBody>
          <a:bodyPr wrap="square" rtlCol="0">
            <a:spAutoFit/>
          </a:bodyPr>
          <a:lstStyle/>
          <a:p>
            <a:r>
              <a:rPr lang="en-US" b="1" dirty="0"/>
              <a:t>Operations on Dataset :</a:t>
            </a:r>
          </a:p>
          <a:p>
            <a:r>
              <a:rPr lang="en-US" b="1" dirty="0"/>
              <a:t>1. Database Setup &amp; Data Import</a:t>
            </a:r>
          </a:p>
          <a:p>
            <a:r>
              <a:rPr lang="en-US" dirty="0"/>
              <a:t>The analysis began with setting up a structured workspace inside </a:t>
            </a:r>
            <a:r>
              <a:rPr lang="en-US" b="1" dirty="0"/>
              <a:t>SQL Server Management Studio</a:t>
            </a:r>
            <a:r>
              <a:rPr lang="en-US" dirty="0"/>
              <a:t>:</a:t>
            </a:r>
          </a:p>
          <a:p>
            <a:r>
              <a:rPr lang="en-US" dirty="0"/>
              <a:t>A new database named </a:t>
            </a:r>
            <a:r>
              <a:rPr lang="en-US" b="1" dirty="0"/>
              <a:t>work</a:t>
            </a:r>
            <a:r>
              <a:rPr lang="en-US" dirty="0"/>
              <a:t> was created.</a:t>
            </a:r>
          </a:p>
          <a:p>
            <a:r>
              <a:rPr lang="en-US" dirty="0"/>
              <a:t>Three raw CSV files were imported into the database as tables:</a:t>
            </a:r>
          </a:p>
          <a:p>
            <a:pPr lvl="1"/>
            <a:r>
              <a:rPr lang="en-US" b="1" dirty="0" err="1"/>
              <a:t>absenteeism_at_work</a:t>
            </a:r>
            <a:r>
              <a:rPr lang="en-US" dirty="0"/>
              <a:t> – core employee absenteeism data.</a:t>
            </a:r>
          </a:p>
          <a:p>
            <a:pPr lvl="1"/>
            <a:r>
              <a:rPr lang="en-US" b="1" dirty="0"/>
              <a:t>reasons</a:t>
            </a:r>
            <a:r>
              <a:rPr lang="en-US" dirty="0"/>
              <a:t> – mapping table for “Reason for Absence” codes.</a:t>
            </a:r>
          </a:p>
          <a:p>
            <a:pPr lvl="1"/>
            <a:r>
              <a:rPr lang="en-US" b="1" dirty="0"/>
              <a:t>compensation</a:t>
            </a:r>
            <a:r>
              <a:rPr lang="en-US" dirty="0"/>
              <a:t> – employee salary and compensation details.</a:t>
            </a:r>
          </a:p>
          <a:p>
            <a:r>
              <a:rPr lang="en-US" dirty="0"/>
              <a:t>This ensured all datasets were centrally stored, query-ready, and relational.</a:t>
            </a:r>
          </a:p>
          <a:p>
            <a:br>
              <a:rPr lang="en-US" dirty="0"/>
            </a:br>
            <a:endParaRPr lang="en-US" dirty="0"/>
          </a:p>
          <a:p>
            <a:r>
              <a:rPr lang="en-US" b="1" dirty="0"/>
              <a:t>2. Table Joining to Form a Complete Analytical Dataset</a:t>
            </a:r>
          </a:p>
          <a:p>
            <a:r>
              <a:rPr lang="en-US" dirty="0"/>
              <a:t>To perform meaningful analysis, all three tables were merged into </a:t>
            </a:r>
            <a:r>
              <a:rPr lang="en-US" b="1" dirty="0"/>
              <a:t>one consolidated dataset</a:t>
            </a:r>
            <a:r>
              <a:rPr lang="en-US" dirty="0"/>
              <a:t>.</a:t>
            </a:r>
          </a:p>
          <a:p>
            <a:r>
              <a:rPr lang="en-US" dirty="0"/>
              <a:t>The following operations were conducted:</a:t>
            </a:r>
          </a:p>
          <a:p>
            <a:r>
              <a:rPr lang="en-US" b="1" dirty="0"/>
              <a:t>Left join between </a:t>
            </a:r>
            <a:r>
              <a:rPr lang="en-US" b="1" dirty="0" err="1"/>
              <a:t>absenteeism_at_work</a:t>
            </a:r>
            <a:r>
              <a:rPr lang="en-US" b="1" dirty="0"/>
              <a:t> and compensation</a:t>
            </a:r>
            <a:r>
              <a:rPr lang="en-US" dirty="0"/>
              <a:t> using Employee ID.</a:t>
            </a:r>
            <a:br>
              <a:rPr lang="en-US" dirty="0"/>
            </a:br>
            <a:r>
              <a:rPr lang="en-US" dirty="0"/>
              <a:t>This added wage and compensation details to each employee’s absenteeism record.</a:t>
            </a:r>
          </a:p>
          <a:p>
            <a:r>
              <a:rPr lang="en-US" b="1" dirty="0"/>
              <a:t>Left join between </a:t>
            </a:r>
            <a:r>
              <a:rPr lang="en-US" b="1" dirty="0" err="1"/>
              <a:t>absenteeism_at_work</a:t>
            </a:r>
            <a:r>
              <a:rPr lang="en-US" b="1" dirty="0"/>
              <a:t> and reasons</a:t>
            </a:r>
            <a:r>
              <a:rPr lang="en-US" dirty="0"/>
              <a:t> using the Reason code field.</a:t>
            </a:r>
            <a:br>
              <a:rPr lang="en-US" dirty="0"/>
            </a:br>
            <a:r>
              <a:rPr lang="en-US" dirty="0"/>
              <a:t>This provided human-readable descriptions for the numeric absence codes.</a:t>
            </a:r>
          </a:p>
          <a:p>
            <a:r>
              <a:rPr lang="en-US" dirty="0"/>
              <a:t>Result:</a:t>
            </a:r>
            <a:br>
              <a:rPr lang="en-US" dirty="0"/>
            </a:br>
            <a:r>
              <a:rPr lang="en-US" dirty="0"/>
              <a:t>A fully combined table containing all required employee, compensation, and reason-of-absence details in one place.</a:t>
            </a:r>
          </a:p>
        </p:txBody>
      </p:sp>
    </p:spTree>
    <p:extLst>
      <p:ext uri="{BB962C8B-B14F-4D97-AF65-F5344CB8AC3E}">
        <p14:creationId xmlns:p14="http://schemas.microsoft.com/office/powerpoint/2010/main" val="3004087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467763-CF03-CBDA-4799-2F2967F2BB8C}"/>
              </a:ext>
            </a:extLst>
          </p:cNvPr>
          <p:cNvSpPr/>
          <p:nvPr/>
        </p:nvSpPr>
        <p:spPr>
          <a:xfrm>
            <a:off x="707924" y="462115"/>
            <a:ext cx="10972800" cy="60950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3A0C7CEE-D5CD-3EAC-1AB7-EE440F418A50}"/>
              </a:ext>
            </a:extLst>
          </p:cNvPr>
          <p:cNvSpPr txBox="1"/>
          <p:nvPr/>
        </p:nvSpPr>
        <p:spPr>
          <a:xfrm>
            <a:off x="1170038" y="555524"/>
            <a:ext cx="10668000" cy="6001643"/>
          </a:xfrm>
          <a:prstGeom prst="rect">
            <a:avLst/>
          </a:prstGeom>
          <a:noFill/>
        </p:spPr>
        <p:txBody>
          <a:bodyPr wrap="square" rtlCol="0">
            <a:spAutoFit/>
          </a:bodyPr>
          <a:lstStyle/>
          <a:p>
            <a:r>
              <a:rPr lang="en-US" sz="1600" b="1" dirty="0"/>
              <a:t>3. Identifying Healthy Employees (Filtering Operation)</a:t>
            </a:r>
          </a:p>
          <a:p>
            <a:r>
              <a:rPr lang="en-US" sz="1600" dirty="0"/>
              <a:t>A key HR requirement was to identify healthy employees eligible for a </a:t>
            </a:r>
            <a:r>
              <a:rPr lang="en-US" sz="1600" b="1" dirty="0"/>
              <a:t>$1,000 bonus</a:t>
            </a:r>
            <a:r>
              <a:rPr lang="en-US" sz="1600" dirty="0"/>
              <a:t>.</a:t>
            </a:r>
          </a:p>
          <a:p>
            <a:r>
              <a:rPr lang="en-US" sz="1600" dirty="0"/>
              <a:t>A filtered dataset was created by applying these conditions:</a:t>
            </a:r>
          </a:p>
          <a:p>
            <a:r>
              <a:rPr lang="en-US" sz="1600" b="1" dirty="0"/>
              <a:t>Non-drinker:</a:t>
            </a:r>
            <a:r>
              <a:rPr lang="en-US" sz="1600" dirty="0"/>
              <a:t> Social Drinker = 0</a:t>
            </a:r>
          </a:p>
          <a:p>
            <a:r>
              <a:rPr lang="en-US" sz="1600" b="1" dirty="0"/>
              <a:t>Non-smoker:</a:t>
            </a:r>
            <a:r>
              <a:rPr lang="en-US" sz="1600" dirty="0"/>
              <a:t> Social Smoker = 0</a:t>
            </a:r>
          </a:p>
          <a:p>
            <a:r>
              <a:rPr lang="en-US" sz="1600" b="1" dirty="0"/>
              <a:t>Healthy BMI:</a:t>
            </a:r>
            <a:r>
              <a:rPr lang="en-US" sz="1600" dirty="0"/>
              <a:t> BMI &lt; 25</a:t>
            </a:r>
          </a:p>
          <a:p>
            <a:r>
              <a:rPr lang="en-US" sz="1600" b="1" dirty="0"/>
              <a:t>Low absenteeism:</a:t>
            </a:r>
            <a:r>
              <a:rPr lang="en-US" sz="1600" dirty="0"/>
              <a:t> Absenteeism hours lower than the </a:t>
            </a:r>
            <a:r>
              <a:rPr lang="en-US" sz="1600" b="1" dirty="0"/>
              <a:t>overall average</a:t>
            </a:r>
            <a:r>
              <a:rPr lang="en-US" sz="1600" dirty="0"/>
              <a:t> absenteeism</a:t>
            </a:r>
            <a:br>
              <a:rPr lang="en-US" sz="1600" dirty="0"/>
            </a:br>
            <a:r>
              <a:rPr lang="en-US" sz="1600" dirty="0"/>
              <a:t>(the overall average was calculated using a subquery)</a:t>
            </a:r>
          </a:p>
          <a:p>
            <a:r>
              <a:rPr lang="en-US" sz="1600" dirty="0"/>
              <a:t>This produced a clean list of </a:t>
            </a:r>
            <a:r>
              <a:rPr lang="en-US" sz="1600" b="1" dirty="0"/>
              <a:t>healthy, low absenteeism employees</a:t>
            </a:r>
            <a:r>
              <a:rPr lang="en-US" sz="1600" dirty="0"/>
              <a:t> that HR could reward.</a:t>
            </a:r>
          </a:p>
          <a:p>
            <a:br>
              <a:rPr lang="en-US" sz="1600" dirty="0"/>
            </a:br>
            <a:endParaRPr lang="en-US" sz="1600" dirty="0"/>
          </a:p>
          <a:p>
            <a:r>
              <a:rPr lang="en-US" sz="1600" b="1" dirty="0"/>
              <a:t>4. Calculating Annual Raise for Non-Smokers</a:t>
            </a:r>
          </a:p>
          <a:p>
            <a:r>
              <a:rPr lang="en-US" sz="1600" dirty="0"/>
              <a:t>HR allocated a fixed insurance savings budget of </a:t>
            </a:r>
            <a:r>
              <a:rPr lang="en-US" sz="1600" b="1" dirty="0"/>
              <a:t>$983,221</a:t>
            </a:r>
            <a:r>
              <a:rPr lang="en-US" sz="1600" dirty="0"/>
              <a:t> to reward </a:t>
            </a:r>
            <a:r>
              <a:rPr lang="en-US" sz="1600" b="1" dirty="0"/>
              <a:t>all non-smoker employees</a:t>
            </a:r>
            <a:r>
              <a:rPr lang="en-US" sz="1600" dirty="0"/>
              <a:t>.</a:t>
            </a:r>
          </a:p>
          <a:p>
            <a:r>
              <a:rPr lang="en-US" sz="1600" dirty="0"/>
              <a:t>The following operations were performed:</a:t>
            </a:r>
          </a:p>
          <a:p>
            <a:r>
              <a:rPr lang="en-US" sz="1600" dirty="0"/>
              <a:t>Counted total non-smokers → </a:t>
            </a:r>
            <a:r>
              <a:rPr lang="en-US" sz="1600" b="1" dirty="0"/>
              <a:t>686 employees</a:t>
            </a:r>
            <a:endParaRPr lang="en-US" sz="1600" dirty="0"/>
          </a:p>
          <a:p>
            <a:r>
              <a:rPr lang="en-US" sz="1600" dirty="0"/>
              <a:t>Calculated total annual working hours:</a:t>
            </a:r>
          </a:p>
          <a:p>
            <a:pPr lvl="1"/>
            <a:r>
              <a:rPr lang="en-US" sz="1600" dirty="0"/>
              <a:t>5 days/week</a:t>
            </a:r>
          </a:p>
          <a:p>
            <a:pPr lvl="1"/>
            <a:r>
              <a:rPr lang="en-US" sz="1600" dirty="0"/>
              <a:t>8 hours/day</a:t>
            </a:r>
          </a:p>
          <a:p>
            <a:pPr lvl="1"/>
            <a:r>
              <a:rPr lang="en-US" sz="1600" dirty="0"/>
              <a:t>52 weeks/year</a:t>
            </a:r>
          </a:p>
          <a:p>
            <a:pPr lvl="1"/>
            <a:r>
              <a:rPr lang="en-US" sz="1600" dirty="0"/>
              <a:t>Multiplied by the 686 eligible employees</a:t>
            </a:r>
          </a:p>
          <a:p>
            <a:r>
              <a:rPr lang="en-US" sz="1600" dirty="0"/>
              <a:t>Divided the total budget by the total annual hours</a:t>
            </a:r>
          </a:p>
          <a:p>
            <a:r>
              <a:rPr lang="en-US" sz="1600" dirty="0"/>
              <a:t>Final calculation produced a raise of:</a:t>
            </a:r>
          </a:p>
          <a:p>
            <a:r>
              <a:rPr lang="en-US" sz="1600" b="1" dirty="0"/>
              <a:t>$1,414.40 per non-smoker per year</a:t>
            </a:r>
          </a:p>
          <a:p>
            <a:r>
              <a:rPr lang="en-US" sz="1600" dirty="0"/>
              <a:t>This step translated HR’s budget into a fair and data-driven compensation model.</a:t>
            </a:r>
          </a:p>
        </p:txBody>
      </p:sp>
    </p:spTree>
    <p:extLst>
      <p:ext uri="{BB962C8B-B14F-4D97-AF65-F5344CB8AC3E}">
        <p14:creationId xmlns:p14="http://schemas.microsoft.com/office/powerpoint/2010/main" val="3042817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080DA8-27D6-38E6-116B-E5808EF41607}"/>
              </a:ext>
            </a:extLst>
          </p:cNvPr>
          <p:cNvSpPr/>
          <p:nvPr/>
        </p:nvSpPr>
        <p:spPr>
          <a:xfrm>
            <a:off x="707922" y="378542"/>
            <a:ext cx="11041625" cy="59780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E166B2A2-6DA2-9AD7-E137-FE5DE72290DB}"/>
              </a:ext>
            </a:extLst>
          </p:cNvPr>
          <p:cNvSpPr txBox="1"/>
          <p:nvPr/>
        </p:nvSpPr>
        <p:spPr>
          <a:xfrm>
            <a:off x="1288026" y="589935"/>
            <a:ext cx="11041625" cy="5632311"/>
          </a:xfrm>
          <a:prstGeom prst="rect">
            <a:avLst/>
          </a:prstGeom>
          <a:noFill/>
        </p:spPr>
        <p:txBody>
          <a:bodyPr wrap="square" rtlCol="0">
            <a:spAutoFit/>
          </a:bodyPr>
          <a:lstStyle/>
          <a:p>
            <a:r>
              <a:rPr lang="en-US" sz="2000" b="1" dirty="0"/>
              <a:t>5. Query Optimization for Power BI</a:t>
            </a:r>
          </a:p>
          <a:p>
            <a:r>
              <a:rPr lang="en-US" sz="2000" dirty="0"/>
              <a:t>The initial join query was optimized for better performance and clean analytics:</a:t>
            </a:r>
          </a:p>
          <a:p>
            <a:r>
              <a:rPr lang="en-US" sz="2000" dirty="0"/>
              <a:t>Replaced SELECT * with only required columns to reduce unnecessary data load.</a:t>
            </a:r>
          </a:p>
          <a:p>
            <a:r>
              <a:rPr lang="en-US" sz="2000" dirty="0"/>
              <a:t>Removed unused or redundant columns.</a:t>
            </a:r>
          </a:p>
          <a:p>
            <a:r>
              <a:rPr lang="en-US" sz="2000" dirty="0"/>
              <a:t>Cleaned column names, ensuring consistency and readability for Power BI import.</a:t>
            </a:r>
          </a:p>
          <a:p>
            <a:r>
              <a:rPr lang="en-US" sz="2000" dirty="0"/>
              <a:t>This helped create a lightweight, dashboard-ready dataset.</a:t>
            </a:r>
          </a:p>
          <a:p>
            <a:br>
              <a:rPr lang="en-US" sz="2000" dirty="0"/>
            </a:br>
            <a:endParaRPr lang="en-US" sz="2000" dirty="0"/>
          </a:p>
          <a:p>
            <a:endParaRPr lang="en-US" sz="2000" b="1" dirty="0"/>
          </a:p>
          <a:p>
            <a:r>
              <a:rPr lang="en-US" sz="2000" b="1" dirty="0"/>
              <a:t>6. Creating Useful Categorical Columns (CASE Transformations)</a:t>
            </a:r>
          </a:p>
          <a:p>
            <a:r>
              <a:rPr lang="en-US" sz="2000" dirty="0"/>
              <a:t>Two important derived columns were created using </a:t>
            </a:r>
            <a:r>
              <a:rPr lang="en-US" sz="2000" b="1" dirty="0"/>
              <a:t>CASE statements</a:t>
            </a:r>
            <a:r>
              <a:rPr lang="en-US" sz="2000" dirty="0"/>
              <a:t>:</a:t>
            </a:r>
          </a:p>
          <a:p>
            <a:r>
              <a:rPr lang="en-US" sz="2000" b="1" dirty="0"/>
              <a:t>A. Seasons Category</a:t>
            </a:r>
          </a:p>
          <a:p>
            <a:r>
              <a:rPr lang="en-US" sz="2000" dirty="0"/>
              <a:t>The Month of Absence was converted into:</a:t>
            </a:r>
          </a:p>
          <a:p>
            <a:r>
              <a:rPr lang="en-US" sz="2000" dirty="0"/>
              <a:t>Winter</a:t>
            </a:r>
          </a:p>
          <a:p>
            <a:r>
              <a:rPr lang="en-US" sz="2000" dirty="0"/>
              <a:t>Spring</a:t>
            </a:r>
          </a:p>
          <a:p>
            <a:r>
              <a:rPr lang="en-US" sz="2000" dirty="0"/>
              <a:t>Summer</a:t>
            </a:r>
          </a:p>
          <a:p>
            <a:r>
              <a:rPr lang="en-US" sz="2000" dirty="0"/>
              <a:t>Fall</a:t>
            </a:r>
          </a:p>
          <a:p>
            <a:r>
              <a:rPr lang="en-US" sz="2000" dirty="0"/>
              <a:t>This enabled seasonal absenteeism trend analysis in the dashboard.</a:t>
            </a:r>
          </a:p>
        </p:txBody>
      </p:sp>
    </p:spTree>
    <p:extLst>
      <p:ext uri="{BB962C8B-B14F-4D97-AF65-F5344CB8AC3E}">
        <p14:creationId xmlns:p14="http://schemas.microsoft.com/office/powerpoint/2010/main" val="3513040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8D2355-5108-3841-C342-00D689165BFD}"/>
              </a:ext>
            </a:extLst>
          </p:cNvPr>
          <p:cNvSpPr/>
          <p:nvPr/>
        </p:nvSpPr>
        <p:spPr>
          <a:xfrm>
            <a:off x="816077" y="513735"/>
            <a:ext cx="10726994" cy="58305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3B05CAF1-ABDD-BC37-9CA6-C7B29C166596}"/>
              </a:ext>
            </a:extLst>
          </p:cNvPr>
          <p:cNvSpPr txBox="1"/>
          <p:nvPr/>
        </p:nvSpPr>
        <p:spPr>
          <a:xfrm>
            <a:off x="983225" y="639097"/>
            <a:ext cx="10392697" cy="5584721"/>
          </a:xfrm>
          <a:prstGeom prst="rect">
            <a:avLst/>
          </a:prstGeom>
          <a:noFill/>
        </p:spPr>
        <p:txBody>
          <a:bodyPr wrap="square" rtlCol="0">
            <a:spAutoFit/>
          </a:bodyPr>
          <a:lstStyle/>
          <a:p>
            <a:r>
              <a:rPr lang="en-US" b="1"/>
              <a:t>B. BMI Category</a:t>
            </a:r>
          </a:p>
          <a:p>
            <a:r>
              <a:rPr lang="en-US"/>
              <a:t>BMI values were classified into:</a:t>
            </a:r>
          </a:p>
          <a:p>
            <a:r>
              <a:rPr lang="en-US"/>
              <a:t>Underweight</a:t>
            </a:r>
          </a:p>
          <a:p>
            <a:r>
              <a:rPr lang="en-US"/>
              <a:t>Healthy Weight</a:t>
            </a:r>
          </a:p>
          <a:p>
            <a:r>
              <a:rPr lang="en-US"/>
              <a:t>Overweight</a:t>
            </a:r>
          </a:p>
          <a:p>
            <a:r>
              <a:rPr lang="en-US"/>
              <a:t>Obese</a:t>
            </a:r>
          </a:p>
          <a:p>
            <a:r>
              <a:rPr lang="en-US"/>
              <a:t>This made it easier to analyze absenteeism patterns based on employee health categories.</a:t>
            </a:r>
          </a:p>
          <a:p>
            <a:r>
              <a:rPr lang="en-US"/>
              <a:t>These engineered columns increased the analytical richness of the dataset.</a:t>
            </a:r>
          </a:p>
          <a:p>
            <a:br>
              <a:rPr lang="en-US"/>
            </a:br>
            <a:endParaRPr lang="en-US"/>
          </a:p>
          <a:p>
            <a:r>
              <a:rPr lang="en-US" b="1"/>
              <a:t>7. Preparing Final Clean Table for Dashboarding</a:t>
            </a:r>
          </a:p>
          <a:p>
            <a:r>
              <a:rPr lang="en-US"/>
              <a:t>After all transformations:</a:t>
            </a:r>
          </a:p>
          <a:p>
            <a:r>
              <a:rPr lang="en-US"/>
              <a:t>The optimized SQL query was used as the </a:t>
            </a:r>
            <a:r>
              <a:rPr lang="en-US" b="1"/>
              <a:t>direct data source</a:t>
            </a:r>
            <a:r>
              <a:rPr lang="en-US"/>
              <a:t> for Power BI.</a:t>
            </a:r>
          </a:p>
          <a:p>
            <a:r>
              <a:rPr lang="en-US"/>
              <a:t>The final dataset contained:</a:t>
            </a:r>
          </a:p>
          <a:p>
            <a:pPr lvl="1"/>
            <a:r>
              <a:rPr lang="en-US"/>
              <a:t>Clean employee info</a:t>
            </a:r>
          </a:p>
          <a:p>
            <a:pPr lvl="1"/>
            <a:r>
              <a:rPr lang="en-US"/>
              <a:t>Absenteeism data</a:t>
            </a:r>
          </a:p>
          <a:p>
            <a:pPr lvl="1"/>
            <a:r>
              <a:rPr lang="en-US"/>
              <a:t>Salary/compensation info</a:t>
            </a:r>
          </a:p>
          <a:p>
            <a:pPr lvl="1"/>
            <a:r>
              <a:rPr lang="en-US"/>
              <a:t>Categorical health &amp; seasonal fields</a:t>
            </a:r>
          </a:p>
          <a:p>
            <a:pPr lvl="1"/>
            <a:r>
              <a:rPr lang="en-US"/>
              <a:t>Reason-for-absence descriptions</a:t>
            </a:r>
          </a:p>
          <a:p>
            <a:r>
              <a:rPr lang="en-US"/>
              <a:t>This final table served as the single source of truth for visual analytics.</a:t>
            </a:r>
          </a:p>
        </p:txBody>
      </p:sp>
    </p:spTree>
    <p:extLst>
      <p:ext uri="{BB962C8B-B14F-4D97-AF65-F5344CB8AC3E}">
        <p14:creationId xmlns:p14="http://schemas.microsoft.com/office/powerpoint/2010/main" val="4236021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57681F-A986-A627-ABDF-93DD4F42BADA}"/>
              </a:ext>
            </a:extLst>
          </p:cNvPr>
          <p:cNvSpPr/>
          <p:nvPr/>
        </p:nvSpPr>
        <p:spPr>
          <a:xfrm>
            <a:off x="766916" y="437535"/>
            <a:ext cx="10992465" cy="6096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
        <p:nvSpPr>
          <p:cNvPr id="3" name="TextBox 2">
            <a:extLst>
              <a:ext uri="{FF2B5EF4-FFF2-40B4-BE49-F238E27FC236}">
                <a16:creationId xmlns:a16="http://schemas.microsoft.com/office/drawing/2014/main" id="{BEBAD253-F66F-8B28-4657-EF5CF95404B7}"/>
              </a:ext>
            </a:extLst>
          </p:cNvPr>
          <p:cNvSpPr txBox="1"/>
          <p:nvPr/>
        </p:nvSpPr>
        <p:spPr>
          <a:xfrm>
            <a:off x="865239" y="560439"/>
            <a:ext cx="10746658" cy="6186309"/>
          </a:xfrm>
          <a:prstGeom prst="rect">
            <a:avLst/>
          </a:prstGeom>
          <a:noFill/>
        </p:spPr>
        <p:txBody>
          <a:bodyPr wrap="square" rtlCol="0">
            <a:spAutoFit/>
          </a:bodyPr>
          <a:lstStyle/>
          <a:p>
            <a:r>
              <a:rPr lang="en-US" b="1" dirty="0"/>
              <a:t>Dashboard &amp; Visualization Techniques</a:t>
            </a:r>
          </a:p>
          <a:p>
            <a:r>
              <a:rPr lang="en-US" dirty="0"/>
              <a:t>After completing all SQL operations and preparing the optimized analytical table, the final dataset was imported into </a:t>
            </a:r>
            <a:r>
              <a:rPr lang="en-US" b="1" dirty="0"/>
              <a:t>Microsoft Power BI</a:t>
            </a:r>
            <a:r>
              <a:rPr lang="en-US" dirty="0"/>
              <a:t> to design an interactive HR dashboard. This dashboard visually represented absenteeism trends, workforce health indicators, and compensation-related insights requested by the HR department.</a:t>
            </a:r>
          </a:p>
          <a:p>
            <a:r>
              <a:rPr lang="en-US" dirty="0"/>
              <a:t>This section describes the </a:t>
            </a:r>
            <a:r>
              <a:rPr lang="en-US" dirty="0" err="1"/>
              <a:t>visualisation</a:t>
            </a:r>
            <a:r>
              <a:rPr lang="en-US" dirty="0"/>
              <a:t> techniques, dashboard layout, and design principles used.</a:t>
            </a:r>
          </a:p>
          <a:p>
            <a:br>
              <a:rPr lang="en-US" dirty="0"/>
            </a:br>
            <a:endParaRPr lang="en-US" dirty="0"/>
          </a:p>
          <a:p>
            <a:r>
              <a:rPr lang="en-US" b="1" dirty="0"/>
              <a:t>1. Connecting Power BI to the SQL Database</a:t>
            </a:r>
          </a:p>
          <a:p>
            <a:r>
              <a:rPr lang="en-US" dirty="0"/>
              <a:t>The dashboard development started by establishing a </a:t>
            </a:r>
            <a:r>
              <a:rPr lang="en-US" b="1" dirty="0"/>
              <a:t>direct SQL Server connection</a:t>
            </a:r>
            <a:r>
              <a:rPr lang="en-US" dirty="0"/>
              <a:t> using the final optimized query.</a:t>
            </a:r>
            <a:br>
              <a:rPr lang="en-US" dirty="0"/>
            </a:br>
            <a:r>
              <a:rPr lang="en-US" dirty="0"/>
              <a:t>This ensured that:</a:t>
            </a:r>
          </a:p>
          <a:p>
            <a:r>
              <a:rPr lang="en-US" dirty="0"/>
              <a:t>Data was clean and ready before loading</a:t>
            </a:r>
          </a:p>
          <a:p>
            <a:r>
              <a:rPr lang="en-US" dirty="0"/>
              <a:t>Only relevant columns were included</a:t>
            </a:r>
          </a:p>
          <a:p>
            <a:r>
              <a:rPr lang="en-US" dirty="0"/>
              <a:t>Refreshes were faster</a:t>
            </a:r>
          </a:p>
          <a:p>
            <a:r>
              <a:rPr lang="en-US" dirty="0"/>
              <a:t>Power BI received a structured, analytics-ready model</a:t>
            </a:r>
          </a:p>
          <a:p>
            <a:r>
              <a:rPr lang="en-US" dirty="0"/>
              <a:t>No additional Power Query transformations were required since preprocessing was already done in SQL.</a:t>
            </a:r>
          </a:p>
          <a:p>
            <a:endParaRPr lang="en-US" dirty="0"/>
          </a:p>
          <a:p>
            <a:r>
              <a:rPr lang="en-US" b="1" dirty="0"/>
              <a:t>2. Implementing the HR-Approved Wireframe</a:t>
            </a:r>
          </a:p>
          <a:p>
            <a:r>
              <a:rPr lang="en-US" dirty="0"/>
              <a:t>The dashboard layout followed the </a:t>
            </a:r>
            <a:r>
              <a:rPr lang="en-US" b="1" dirty="0"/>
              <a:t>official wireframe</a:t>
            </a:r>
            <a:r>
              <a:rPr lang="en-US" dirty="0"/>
              <a:t> provided by the HR team.</a:t>
            </a:r>
            <a:br>
              <a:rPr lang="en-US" dirty="0"/>
            </a:br>
            <a:r>
              <a:rPr lang="en-US" dirty="0"/>
              <a:t>This ensured corporate alignment and met business expectations.</a:t>
            </a:r>
          </a:p>
          <a:p>
            <a:r>
              <a:rPr lang="en-US" dirty="0"/>
              <a:t>The design was structured into three sections:</a:t>
            </a:r>
          </a:p>
          <a:p>
            <a:endParaRPr lang="en-US" dirty="0"/>
          </a:p>
        </p:txBody>
      </p:sp>
    </p:spTree>
    <p:extLst>
      <p:ext uri="{BB962C8B-B14F-4D97-AF65-F5344CB8AC3E}">
        <p14:creationId xmlns:p14="http://schemas.microsoft.com/office/powerpoint/2010/main" val="235774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31AC67-8D09-B27E-CA1F-406A27229CE0}"/>
              </a:ext>
            </a:extLst>
          </p:cNvPr>
          <p:cNvSpPr/>
          <p:nvPr/>
        </p:nvSpPr>
        <p:spPr>
          <a:xfrm>
            <a:off x="747252" y="498987"/>
            <a:ext cx="10953135" cy="586002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72605325-7997-A140-B2C8-5D0C4D15DA62}"/>
              </a:ext>
            </a:extLst>
          </p:cNvPr>
          <p:cNvSpPr txBox="1"/>
          <p:nvPr/>
        </p:nvSpPr>
        <p:spPr>
          <a:xfrm>
            <a:off x="855406" y="658761"/>
            <a:ext cx="10766323" cy="5509200"/>
          </a:xfrm>
          <a:prstGeom prst="rect">
            <a:avLst/>
          </a:prstGeom>
          <a:noFill/>
        </p:spPr>
        <p:txBody>
          <a:bodyPr wrap="square" rtlCol="0">
            <a:spAutoFit/>
          </a:bodyPr>
          <a:lstStyle/>
          <a:p>
            <a:r>
              <a:rPr lang="en-US" sz="1600" b="1" dirty="0"/>
              <a:t>A. KPI Section (Top Area)</a:t>
            </a:r>
          </a:p>
          <a:p>
            <a:r>
              <a:rPr lang="en-US" sz="1600" dirty="0"/>
              <a:t>This section shows the overall workforce absenteeism performance.</a:t>
            </a:r>
          </a:p>
          <a:p>
            <a:r>
              <a:rPr lang="en-US" sz="1600" dirty="0"/>
              <a:t>Key elements included:</a:t>
            </a:r>
          </a:p>
          <a:p>
            <a:r>
              <a:rPr lang="en-US" sz="1600" b="1" dirty="0"/>
              <a:t>• Main KPI – Average Absenteeism Hours</a:t>
            </a:r>
          </a:p>
          <a:p>
            <a:r>
              <a:rPr lang="en-US" sz="1600" dirty="0"/>
              <a:t>Displayed as a large card visual.</a:t>
            </a:r>
            <a:br>
              <a:rPr lang="en-US" sz="1600" dirty="0"/>
            </a:br>
            <a:r>
              <a:rPr lang="en-US" sz="1600" dirty="0"/>
              <a:t>This is the primary metric HR wants to monitor.</a:t>
            </a:r>
          </a:p>
          <a:p>
            <a:r>
              <a:rPr lang="en-US" sz="1600" b="1" dirty="0"/>
              <a:t>• Supporting KPIs</a:t>
            </a:r>
          </a:p>
          <a:p>
            <a:r>
              <a:rPr lang="en-US" sz="1600" dirty="0"/>
              <a:t>Smaller card visuals showing:</a:t>
            </a:r>
          </a:p>
          <a:p>
            <a:r>
              <a:rPr lang="en-US" sz="1600" dirty="0"/>
              <a:t>Total number of employees in the dataset</a:t>
            </a:r>
          </a:p>
          <a:p>
            <a:r>
              <a:rPr lang="en-US" sz="1600" dirty="0"/>
              <a:t>Total absenteeism hours</a:t>
            </a:r>
          </a:p>
          <a:p>
            <a:r>
              <a:rPr lang="en-US" sz="1600" dirty="0"/>
              <a:t>Number of working hours (when used in the compensation calculation)</a:t>
            </a:r>
          </a:p>
          <a:p>
            <a:r>
              <a:rPr lang="en-US" sz="1600" dirty="0"/>
              <a:t>These provide context and help HR interpret performance at a glance.</a:t>
            </a:r>
          </a:p>
          <a:p>
            <a:br>
              <a:rPr lang="en-US" sz="1600" dirty="0"/>
            </a:br>
            <a:endParaRPr lang="en-US" sz="1600" dirty="0"/>
          </a:p>
          <a:p>
            <a:r>
              <a:rPr lang="en-US" sz="1600" b="1" dirty="0"/>
              <a:t>B. Insight &amp; Distribution Section (Middle Area)</a:t>
            </a:r>
          </a:p>
          <a:p>
            <a:r>
              <a:rPr lang="en-US" sz="1600" dirty="0"/>
              <a:t>This section focuses on deeper insight through categorical distributions and HR-related factors.</a:t>
            </a:r>
          </a:p>
          <a:p>
            <a:r>
              <a:rPr lang="en-US" sz="1600" b="1" dirty="0"/>
              <a:t>1. Smart Narrative Visual</a:t>
            </a:r>
          </a:p>
          <a:p>
            <a:r>
              <a:rPr lang="en-US" sz="1600" dirty="0"/>
              <a:t>A Power BI Smart Narrative was added to automatically generate:</a:t>
            </a:r>
          </a:p>
          <a:p>
            <a:r>
              <a:rPr lang="en-US" sz="1600" dirty="0"/>
              <a:t>Summary statements</a:t>
            </a:r>
          </a:p>
          <a:p>
            <a:r>
              <a:rPr lang="en-US" sz="1600" dirty="0"/>
              <a:t>Trend observations</a:t>
            </a:r>
          </a:p>
          <a:p>
            <a:r>
              <a:rPr lang="en-US" sz="1600" dirty="0"/>
              <a:t>Key insights extracted from the data</a:t>
            </a:r>
          </a:p>
          <a:p>
            <a:r>
              <a:rPr lang="en-US" sz="1600" dirty="0"/>
              <a:t>This provides written insight without manual reporting effort.</a:t>
            </a:r>
          </a:p>
        </p:txBody>
      </p:sp>
    </p:spTree>
    <p:extLst>
      <p:ext uri="{BB962C8B-B14F-4D97-AF65-F5344CB8AC3E}">
        <p14:creationId xmlns:p14="http://schemas.microsoft.com/office/powerpoint/2010/main" val="65685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15E0F3-2055-4D1C-49E4-6053C6999E9C}"/>
              </a:ext>
            </a:extLst>
          </p:cNvPr>
          <p:cNvSpPr/>
          <p:nvPr/>
        </p:nvSpPr>
        <p:spPr>
          <a:xfrm>
            <a:off x="550606" y="366251"/>
            <a:ext cx="11277600" cy="61254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EECD487D-5FD5-2F3D-3792-90E453C5FF36}"/>
              </a:ext>
            </a:extLst>
          </p:cNvPr>
          <p:cNvSpPr txBox="1"/>
          <p:nvPr/>
        </p:nvSpPr>
        <p:spPr>
          <a:xfrm>
            <a:off x="1376517" y="582066"/>
            <a:ext cx="10972800" cy="5693866"/>
          </a:xfrm>
          <a:prstGeom prst="rect">
            <a:avLst/>
          </a:prstGeom>
          <a:noFill/>
        </p:spPr>
        <p:txBody>
          <a:bodyPr wrap="square" rtlCol="0">
            <a:spAutoFit/>
          </a:bodyPr>
          <a:lstStyle/>
          <a:p>
            <a:r>
              <a:rPr lang="en-US" sz="1400" b="1" dirty="0"/>
              <a:t>2. Distribution Charts</a:t>
            </a:r>
          </a:p>
          <a:p>
            <a:r>
              <a:rPr lang="en-US" sz="1400" dirty="0"/>
              <a:t>Multiple bar and column charts were created to show how absenteeism varies across employee attributes.</a:t>
            </a:r>
            <a:br>
              <a:rPr lang="en-US" sz="1400" dirty="0"/>
            </a:br>
            <a:r>
              <a:rPr lang="en-US" sz="1400" dirty="0"/>
              <a:t>Key categories </a:t>
            </a:r>
            <a:r>
              <a:rPr lang="en-US" sz="1400" dirty="0" err="1"/>
              <a:t>visualised</a:t>
            </a:r>
            <a:r>
              <a:rPr lang="en-US" sz="1400" dirty="0"/>
              <a:t> include:</a:t>
            </a:r>
          </a:p>
          <a:p>
            <a:r>
              <a:rPr lang="en-US" sz="1400" dirty="0"/>
              <a:t>Education level</a:t>
            </a:r>
          </a:p>
          <a:p>
            <a:r>
              <a:rPr lang="en-US" sz="1400" dirty="0"/>
              <a:t>Number of children</a:t>
            </a:r>
          </a:p>
          <a:p>
            <a:r>
              <a:rPr lang="en-US" sz="1400" dirty="0"/>
              <a:t>Number of pets</a:t>
            </a:r>
          </a:p>
          <a:p>
            <a:r>
              <a:rPr lang="en-US" sz="1400" dirty="0"/>
              <a:t>BMI category</a:t>
            </a:r>
          </a:p>
          <a:p>
            <a:r>
              <a:rPr lang="en-US" sz="1400" dirty="0"/>
              <a:t>Reason for absence</a:t>
            </a:r>
          </a:p>
          <a:p>
            <a:r>
              <a:rPr lang="en-US" sz="1400" dirty="0"/>
              <a:t>Seasons</a:t>
            </a:r>
          </a:p>
          <a:p>
            <a:r>
              <a:rPr lang="en-US" sz="1400" dirty="0"/>
              <a:t>These visuals help HR identify correlations between lifestyle/health factors and absenteeism.</a:t>
            </a:r>
          </a:p>
          <a:p>
            <a:br>
              <a:rPr lang="en-US" sz="1400" dirty="0"/>
            </a:br>
            <a:endParaRPr lang="en-US" sz="1400" dirty="0"/>
          </a:p>
          <a:p>
            <a:r>
              <a:rPr lang="en-US" sz="1400" b="1" dirty="0"/>
              <a:t>C. Trendline &amp; Drilldown Analysis (Bottom Area)</a:t>
            </a:r>
          </a:p>
          <a:p>
            <a:r>
              <a:rPr lang="en-US" sz="1400" b="1" dirty="0"/>
              <a:t>1. Absenteeism by Month (Trendline)</a:t>
            </a:r>
          </a:p>
          <a:p>
            <a:r>
              <a:rPr lang="en-US" sz="1400" dirty="0"/>
              <a:t>A line chart was used to show:</a:t>
            </a:r>
          </a:p>
          <a:p>
            <a:r>
              <a:rPr lang="en-US" sz="1400" dirty="0"/>
              <a:t>Monthly absentee hours</a:t>
            </a:r>
          </a:p>
          <a:p>
            <a:r>
              <a:rPr lang="en-US" sz="1400" dirty="0"/>
              <a:t>Seasonal peaks</a:t>
            </a:r>
          </a:p>
          <a:p>
            <a:r>
              <a:rPr lang="en-US" sz="1400" dirty="0"/>
              <a:t>Patterns across the year</a:t>
            </a:r>
          </a:p>
          <a:p>
            <a:r>
              <a:rPr lang="en-US" sz="1400" dirty="0"/>
              <a:t>Combined with the Seasons column created in SQL, this enabled HR to understand holiday or seasonal impacts on absenteeism.</a:t>
            </a:r>
          </a:p>
          <a:p>
            <a:r>
              <a:rPr lang="en-US" sz="1400" b="1" dirty="0"/>
              <a:t>2. Table Breakdown</a:t>
            </a:r>
          </a:p>
          <a:p>
            <a:r>
              <a:rPr lang="en-US" sz="1400" dirty="0"/>
              <a:t>A detailed table visual was added to show:</a:t>
            </a:r>
          </a:p>
          <a:p>
            <a:r>
              <a:rPr lang="en-US" sz="1400" dirty="0"/>
              <a:t>Employee details</a:t>
            </a:r>
          </a:p>
          <a:p>
            <a:r>
              <a:rPr lang="en-US" sz="1400" dirty="0"/>
              <a:t>Absence reasons</a:t>
            </a:r>
          </a:p>
          <a:p>
            <a:r>
              <a:rPr lang="en-US" sz="1400" dirty="0"/>
              <a:t>Hours absent</a:t>
            </a:r>
          </a:p>
          <a:p>
            <a:r>
              <a:rPr lang="en-US" sz="1400" dirty="0"/>
              <a:t>Health attributes</a:t>
            </a:r>
          </a:p>
          <a:p>
            <a:r>
              <a:rPr lang="en-US" sz="1400" dirty="0"/>
              <a:t>This visual supports drilldown exploration and transparency for HR teams.</a:t>
            </a:r>
          </a:p>
        </p:txBody>
      </p:sp>
    </p:spTree>
    <p:extLst>
      <p:ext uri="{BB962C8B-B14F-4D97-AF65-F5344CB8AC3E}">
        <p14:creationId xmlns:p14="http://schemas.microsoft.com/office/powerpoint/2010/main" val="4040194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7497A1-EC72-F413-4B61-1F28A403ACC4}"/>
              </a:ext>
            </a:extLst>
          </p:cNvPr>
          <p:cNvSpPr/>
          <p:nvPr/>
        </p:nvSpPr>
        <p:spPr>
          <a:xfrm>
            <a:off x="619433" y="344129"/>
            <a:ext cx="11208776" cy="619186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005E4599-B835-AABD-77B8-4D2178DCA449}"/>
              </a:ext>
            </a:extLst>
          </p:cNvPr>
          <p:cNvSpPr txBox="1"/>
          <p:nvPr/>
        </p:nvSpPr>
        <p:spPr>
          <a:xfrm>
            <a:off x="727587" y="481781"/>
            <a:ext cx="5496232" cy="5909310"/>
          </a:xfrm>
          <a:prstGeom prst="rect">
            <a:avLst/>
          </a:prstGeom>
          <a:noFill/>
        </p:spPr>
        <p:txBody>
          <a:bodyPr wrap="square" rtlCol="0">
            <a:spAutoFit/>
          </a:bodyPr>
          <a:lstStyle/>
          <a:p>
            <a:r>
              <a:rPr lang="en-US" sz="1400" b="1" dirty="0"/>
              <a:t>D. Scatter Plot for Correlation Analysis</a:t>
            </a:r>
          </a:p>
          <a:p>
            <a:r>
              <a:rPr lang="en-US" sz="1400" dirty="0"/>
              <a:t>The dashboard includes a scatter plot to explore correlations such as:</a:t>
            </a:r>
          </a:p>
          <a:p>
            <a:r>
              <a:rPr lang="en-US" sz="1400" b="1" dirty="0"/>
              <a:t>Transportation Expense vs. Workload</a:t>
            </a:r>
            <a:endParaRPr lang="en-US" sz="1400" dirty="0"/>
          </a:p>
          <a:p>
            <a:r>
              <a:rPr lang="en-US" sz="1400" dirty="0"/>
              <a:t>This visual helps identify whether long commutes or financial strain correlate with increased absenteeism.</a:t>
            </a:r>
          </a:p>
          <a:p>
            <a:br>
              <a:rPr lang="en-US" sz="1400" dirty="0"/>
            </a:br>
            <a:endParaRPr lang="en-US" sz="1400" dirty="0"/>
          </a:p>
          <a:p>
            <a:r>
              <a:rPr lang="en-US" sz="1400" b="1" dirty="0"/>
              <a:t>3. Slicers &amp; Filters</a:t>
            </a:r>
          </a:p>
          <a:p>
            <a:r>
              <a:rPr lang="en-US" sz="1400" dirty="0"/>
              <a:t>Interactive slicers were added to enhance user-driven analysis:</a:t>
            </a:r>
          </a:p>
          <a:p>
            <a:r>
              <a:rPr lang="en-US" sz="1400" dirty="0"/>
              <a:t>Seasons</a:t>
            </a:r>
          </a:p>
          <a:p>
            <a:r>
              <a:rPr lang="en-US" sz="1400" dirty="0"/>
              <a:t>Reasons for Absence</a:t>
            </a:r>
          </a:p>
          <a:p>
            <a:r>
              <a:rPr lang="en-US" sz="1400" dirty="0"/>
              <a:t>Education Level</a:t>
            </a:r>
          </a:p>
          <a:p>
            <a:r>
              <a:rPr lang="en-US" sz="1400" dirty="0"/>
              <a:t>BMI Category</a:t>
            </a:r>
          </a:p>
          <a:p>
            <a:r>
              <a:rPr lang="en-US" sz="1400" dirty="0"/>
              <a:t>These filters allow HR teams to </a:t>
            </a:r>
            <a:r>
              <a:rPr lang="en-US" sz="1400" dirty="0" err="1"/>
              <a:t>analyse</a:t>
            </a:r>
            <a:r>
              <a:rPr lang="en-US" sz="1400" dirty="0"/>
              <a:t> the data without requiring additional technical skills.</a:t>
            </a:r>
          </a:p>
          <a:p>
            <a:br>
              <a:rPr lang="en-US" sz="1400" dirty="0"/>
            </a:br>
            <a:endParaRPr lang="en-US" sz="1400" dirty="0"/>
          </a:p>
          <a:p>
            <a:r>
              <a:rPr lang="en-US" sz="1400" b="1" dirty="0"/>
              <a:t>4. Visualization Techniques &amp; Best Practices Used</a:t>
            </a:r>
          </a:p>
          <a:p>
            <a:r>
              <a:rPr lang="en-US" sz="1400" b="1" dirty="0"/>
              <a:t>• Consistent Color Themes</a:t>
            </a:r>
          </a:p>
          <a:p>
            <a:r>
              <a:rPr lang="en-US" sz="1400" dirty="0"/>
              <a:t>Uses Power BI’s uniform visual theme to maintain clarity and professional aesthetics.</a:t>
            </a:r>
          </a:p>
          <a:p>
            <a:r>
              <a:rPr lang="en-US" sz="1400" b="1" dirty="0"/>
              <a:t>• Minimal Text, Maximum Clarity</a:t>
            </a:r>
          </a:p>
          <a:p>
            <a:r>
              <a:rPr lang="en-US" sz="1400" dirty="0"/>
              <a:t>Visuals </a:t>
            </a:r>
            <a:r>
              <a:rPr lang="en-US" sz="1400" dirty="0" err="1"/>
              <a:t>emphasise</a:t>
            </a:r>
            <a:r>
              <a:rPr lang="en-US" sz="1400" dirty="0"/>
              <a:t>:</a:t>
            </a:r>
          </a:p>
          <a:p>
            <a:r>
              <a:rPr lang="en-US" sz="1400" dirty="0"/>
              <a:t>Clean labels</a:t>
            </a:r>
          </a:p>
          <a:p>
            <a:r>
              <a:rPr lang="en-US" sz="1400" dirty="0"/>
              <a:t>Simple axes</a:t>
            </a:r>
          </a:p>
          <a:p>
            <a:r>
              <a:rPr lang="en-US" sz="1400" dirty="0"/>
              <a:t>Subtle gridlines</a:t>
            </a:r>
          </a:p>
          <a:p>
            <a:r>
              <a:rPr lang="en-US" sz="1400" dirty="0"/>
              <a:t>This reduces clutter and improves readability.</a:t>
            </a:r>
          </a:p>
        </p:txBody>
      </p:sp>
      <p:sp>
        <p:nvSpPr>
          <p:cNvPr id="4" name="TextBox 3">
            <a:extLst>
              <a:ext uri="{FF2B5EF4-FFF2-40B4-BE49-F238E27FC236}">
                <a16:creationId xmlns:a16="http://schemas.microsoft.com/office/drawing/2014/main" id="{A460FF04-BF11-1FF5-F38F-99CE20D7B696}"/>
              </a:ext>
            </a:extLst>
          </p:cNvPr>
          <p:cNvSpPr txBox="1"/>
          <p:nvPr/>
        </p:nvSpPr>
        <p:spPr>
          <a:xfrm>
            <a:off x="6576164" y="362923"/>
            <a:ext cx="5079543" cy="6247864"/>
          </a:xfrm>
          <a:prstGeom prst="rect">
            <a:avLst/>
          </a:prstGeom>
          <a:noFill/>
        </p:spPr>
        <p:txBody>
          <a:bodyPr wrap="square" rtlCol="0">
            <a:spAutoFit/>
          </a:bodyPr>
          <a:lstStyle/>
          <a:p>
            <a:r>
              <a:rPr lang="en-US" sz="1600" b="1" dirty="0"/>
              <a:t>4. Visualization Techniques (Continued)</a:t>
            </a:r>
          </a:p>
          <a:p>
            <a:r>
              <a:rPr lang="en-US" sz="1600" b="1" dirty="0"/>
              <a:t>• Highlighting Key Values</a:t>
            </a:r>
          </a:p>
          <a:p>
            <a:r>
              <a:rPr lang="en-US" sz="1600" dirty="0"/>
              <a:t>Important KPIs are placed prominently at the top using large font cards, ensuring HR sees critical information immediately.</a:t>
            </a:r>
          </a:p>
          <a:p>
            <a:r>
              <a:rPr lang="en-US" sz="1600" b="1" dirty="0"/>
              <a:t>• Logical Data Flow</a:t>
            </a:r>
          </a:p>
          <a:p>
            <a:r>
              <a:rPr lang="en-US" sz="1600" dirty="0"/>
              <a:t>The dashboard follows a structured analytical journey:</a:t>
            </a:r>
          </a:p>
          <a:p>
            <a:r>
              <a:rPr lang="en-US" sz="1600" b="1" dirty="0"/>
              <a:t>What is happening?</a:t>
            </a:r>
            <a:r>
              <a:rPr lang="en-US" sz="1600" dirty="0"/>
              <a:t> → KPI Cards</a:t>
            </a:r>
          </a:p>
          <a:p>
            <a:r>
              <a:rPr lang="en-US" sz="1600" b="1" dirty="0"/>
              <a:t>Why is it happening?</a:t>
            </a:r>
            <a:r>
              <a:rPr lang="en-US" sz="1600" dirty="0"/>
              <a:t> → Distribution Charts</a:t>
            </a:r>
          </a:p>
          <a:p>
            <a:r>
              <a:rPr lang="en-US" sz="1600" b="1" dirty="0"/>
              <a:t>When is it happening?</a:t>
            </a:r>
            <a:r>
              <a:rPr lang="en-US" sz="1600" dirty="0"/>
              <a:t> → Monthly Trendline</a:t>
            </a:r>
          </a:p>
          <a:p>
            <a:r>
              <a:rPr lang="en-US" sz="1600" b="1" dirty="0"/>
              <a:t>Who is affected?</a:t>
            </a:r>
            <a:r>
              <a:rPr lang="en-US" sz="1600" dirty="0"/>
              <a:t> → Table Breakdown</a:t>
            </a:r>
          </a:p>
          <a:p>
            <a:r>
              <a:rPr lang="en-US" sz="1600" dirty="0"/>
              <a:t>This flow guides HR through the data step-by-step for better decision-making.</a:t>
            </a:r>
          </a:p>
          <a:p>
            <a:br>
              <a:rPr lang="en-US" sz="1600" dirty="0"/>
            </a:br>
            <a:endParaRPr lang="en-US" sz="1600" dirty="0"/>
          </a:p>
          <a:p>
            <a:r>
              <a:rPr lang="en-US" sz="1600" b="1" dirty="0"/>
              <a:t>5. Purpose of the Dashboard</a:t>
            </a:r>
          </a:p>
          <a:p>
            <a:r>
              <a:rPr lang="en-US" sz="1600" dirty="0"/>
              <a:t>The dashboard is designed to support three major HR objectives:</a:t>
            </a:r>
          </a:p>
          <a:p>
            <a:r>
              <a:rPr lang="en-US" sz="1600" b="1" dirty="0"/>
              <a:t>Monitor absenteeism trends</a:t>
            </a:r>
            <a:r>
              <a:rPr lang="en-US" sz="1600" dirty="0"/>
              <a:t> across months and seasons</a:t>
            </a:r>
          </a:p>
          <a:p>
            <a:r>
              <a:rPr lang="en-US" sz="1600" b="1" dirty="0"/>
              <a:t>Identify health or demographic factors</a:t>
            </a:r>
            <a:r>
              <a:rPr lang="en-US" sz="1600" dirty="0"/>
              <a:t> influencing absenteeism</a:t>
            </a:r>
          </a:p>
          <a:p>
            <a:r>
              <a:rPr lang="en-US" sz="1600" b="1" dirty="0"/>
              <a:t>Enable compensation decisions</a:t>
            </a:r>
            <a:r>
              <a:rPr lang="en-US" sz="1600" dirty="0"/>
              <a:t> for healthy and non-smoking employees</a:t>
            </a:r>
          </a:p>
          <a:p>
            <a:r>
              <a:rPr lang="en-US" sz="1600" dirty="0"/>
              <a:t>These help HR create a healthier, more productive workforce.</a:t>
            </a:r>
          </a:p>
        </p:txBody>
      </p:sp>
    </p:spTree>
    <p:extLst>
      <p:ext uri="{BB962C8B-B14F-4D97-AF65-F5344CB8AC3E}">
        <p14:creationId xmlns:p14="http://schemas.microsoft.com/office/powerpoint/2010/main" val="2093383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695F18-D944-7ACE-2604-E3B0D46E5A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8290" y="0"/>
            <a:ext cx="7595419" cy="6858000"/>
          </a:xfrm>
          <a:prstGeom prst="rect">
            <a:avLst/>
          </a:prstGeom>
        </p:spPr>
      </p:pic>
    </p:spTree>
    <p:extLst>
      <p:ext uri="{BB962C8B-B14F-4D97-AF65-F5344CB8AC3E}">
        <p14:creationId xmlns:p14="http://schemas.microsoft.com/office/powerpoint/2010/main" val="2772598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34B4E9-A5B4-7FF9-1CA7-37DBD3891F60}"/>
              </a:ext>
            </a:extLst>
          </p:cNvPr>
          <p:cNvSpPr/>
          <p:nvPr/>
        </p:nvSpPr>
        <p:spPr>
          <a:xfrm>
            <a:off x="655898" y="462988"/>
            <a:ext cx="10880203" cy="55789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48445472-EBE0-6425-7040-A5EA85FE4878}"/>
              </a:ext>
            </a:extLst>
          </p:cNvPr>
          <p:cNvSpPr txBox="1"/>
          <p:nvPr/>
        </p:nvSpPr>
        <p:spPr>
          <a:xfrm>
            <a:off x="752353" y="659757"/>
            <a:ext cx="10783747" cy="5278056"/>
          </a:xfrm>
          <a:prstGeom prst="rect">
            <a:avLst/>
          </a:prstGeom>
          <a:noFill/>
        </p:spPr>
        <p:txBody>
          <a:bodyPr wrap="square" rtlCol="0">
            <a:spAutoFit/>
          </a:bodyPr>
          <a:lstStyle/>
          <a:p>
            <a:r>
              <a:rPr lang="en-US" b="1"/>
              <a:t>⭐ Key Insights</a:t>
            </a:r>
          </a:p>
          <a:p>
            <a:r>
              <a:rPr lang="en-US" b="1"/>
              <a:t>1️⃣ Healthy Employee Bonus Program Reveals Very Low Eligibility</a:t>
            </a:r>
          </a:p>
          <a:p>
            <a:r>
              <a:rPr lang="en-US"/>
              <a:t>When applying the health and attendance criteria (Non-smoker, Non-drinker, BMI &lt; 25, and absenteeism below average), </a:t>
            </a:r>
            <a:r>
              <a:rPr lang="en-US" b="1"/>
              <a:t>only 11 employees</a:t>
            </a:r>
            <a:r>
              <a:rPr lang="en-US"/>
              <a:t> qualified.</a:t>
            </a:r>
          </a:p>
          <a:p>
            <a:r>
              <a:rPr lang="en-US" b="1"/>
              <a:t>Insight:</a:t>
            </a:r>
            <a:br>
              <a:rPr lang="en-US"/>
            </a:br>
            <a:r>
              <a:rPr lang="en-US"/>
              <a:t>This indicates that a </a:t>
            </a:r>
            <a:r>
              <a:rPr lang="en-US" i="1"/>
              <a:t>very small portion</a:t>
            </a:r>
            <a:r>
              <a:rPr lang="en-US"/>
              <a:t> of the workforce meets the company’s ideal wellness and attendance standards. It suggests widespread issues in one or more areas—health habits, BMI distribution, or absenteeism levels—which HR should evaluate individually to understand the main bottlenecks.</a:t>
            </a:r>
          </a:p>
          <a:p>
            <a:br>
              <a:rPr lang="en-US"/>
            </a:br>
            <a:endParaRPr lang="en-US"/>
          </a:p>
          <a:p>
            <a:r>
              <a:rPr lang="en-US" b="1"/>
              <a:t>2️⃣ Majority of Employees Fall Short on At Least One Health or Lifestyle Metric</a:t>
            </a:r>
          </a:p>
          <a:p>
            <a:r>
              <a:rPr lang="en-US"/>
              <a:t>The dataset shows large segments of employees who either:</a:t>
            </a:r>
          </a:p>
          <a:p>
            <a:r>
              <a:rPr lang="en-US"/>
              <a:t>Have a BMI above the “Healthy” range,</a:t>
            </a:r>
          </a:p>
          <a:p>
            <a:r>
              <a:rPr lang="en-US"/>
              <a:t>Consume alcohol or smoke,</a:t>
            </a:r>
          </a:p>
          <a:p>
            <a:r>
              <a:rPr lang="en-US"/>
              <a:t>Or have absenteeism above the company average.</a:t>
            </a:r>
          </a:p>
          <a:p>
            <a:r>
              <a:rPr lang="en-US" b="1"/>
              <a:t>Insight:</a:t>
            </a:r>
            <a:br>
              <a:rPr lang="en-US"/>
            </a:br>
            <a:r>
              <a:rPr lang="en-US"/>
              <a:t>The workforce has significant lifestyle and health variability. This highlights potential opportunities for company wellness initiatives, preventive health programs, or targeted support for at-risk groups.</a:t>
            </a:r>
          </a:p>
        </p:txBody>
      </p:sp>
    </p:spTree>
    <p:extLst>
      <p:ext uri="{BB962C8B-B14F-4D97-AF65-F5344CB8AC3E}">
        <p14:creationId xmlns:p14="http://schemas.microsoft.com/office/powerpoint/2010/main" val="4290886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8ABB67-5F46-4E95-66E0-9993685E690C}"/>
              </a:ext>
            </a:extLst>
          </p:cNvPr>
          <p:cNvSpPr/>
          <p:nvPr/>
        </p:nvSpPr>
        <p:spPr>
          <a:xfrm>
            <a:off x="590309" y="358815"/>
            <a:ext cx="11134845" cy="60998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2E0E0673-ED36-CDEB-4B36-F987D01664F7}"/>
              </a:ext>
            </a:extLst>
          </p:cNvPr>
          <p:cNvSpPr txBox="1"/>
          <p:nvPr/>
        </p:nvSpPr>
        <p:spPr>
          <a:xfrm>
            <a:off x="590309" y="601884"/>
            <a:ext cx="11011382" cy="6186309"/>
          </a:xfrm>
          <a:prstGeom prst="rect">
            <a:avLst/>
          </a:prstGeom>
          <a:noFill/>
        </p:spPr>
        <p:txBody>
          <a:bodyPr wrap="square" rtlCol="0">
            <a:spAutoFit/>
          </a:bodyPr>
          <a:lstStyle/>
          <a:p>
            <a:r>
              <a:rPr lang="en-US" b="1" dirty="0"/>
              <a:t>3️⃣ Budget Reallocation Creates a Strong Employee Benefit</a:t>
            </a:r>
          </a:p>
          <a:p>
            <a:r>
              <a:rPr lang="en-US" dirty="0"/>
              <a:t>The $983,221 non-smoker insurance savings were distributed across </a:t>
            </a:r>
            <a:r>
              <a:rPr lang="en-US" b="1" dirty="0"/>
              <a:t>686 non-smoking employees</a:t>
            </a:r>
            <a:r>
              <a:rPr lang="en-US" dirty="0"/>
              <a:t>, resulting in a measurable benefit:</a:t>
            </a:r>
          </a:p>
          <a:p>
            <a:r>
              <a:rPr lang="en-US" b="1" dirty="0"/>
              <a:t>Annual raise per employee:</a:t>
            </a:r>
            <a:r>
              <a:rPr lang="en-US" dirty="0"/>
              <a:t> $1,414.40</a:t>
            </a:r>
          </a:p>
          <a:p>
            <a:r>
              <a:rPr lang="en-US" b="1" dirty="0"/>
              <a:t>Hourly equivalent:</a:t>
            </a:r>
            <a:r>
              <a:rPr lang="en-US" dirty="0"/>
              <a:t> $0.68</a:t>
            </a:r>
          </a:p>
          <a:p>
            <a:r>
              <a:rPr lang="en-US" b="1" dirty="0"/>
              <a:t>Insight:</a:t>
            </a:r>
            <a:br>
              <a:rPr lang="en-US" dirty="0"/>
            </a:br>
            <a:r>
              <a:rPr lang="en-US" dirty="0"/>
              <a:t>This distribution model shows the company can successfully convert health-related cost savings into meaningful compensation improvements, strengthening employee trust and retention.</a:t>
            </a:r>
          </a:p>
          <a:p>
            <a:endParaRPr lang="en-US" dirty="0"/>
          </a:p>
          <a:p>
            <a:br>
              <a:rPr lang="en-US" dirty="0"/>
            </a:br>
            <a:endParaRPr lang="en-US" dirty="0"/>
          </a:p>
          <a:p>
            <a:r>
              <a:rPr lang="en-US" b="1" dirty="0"/>
              <a:t>4️⃣ Demographic Factors Show Clear Patterns in Absenteeism</a:t>
            </a:r>
          </a:p>
          <a:p>
            <a:r>
              <a:rPr lang="en-US" dirty="0"/>
              <a:t>The dashboard visualizations highlight several absenteeism patterns:</a:t>
            </a:r>
          </a:p>
          <a:p>
            <a:r>
              <a:rPr lang="en-US" dirty="0"/>
              <a:t>Certain </a:t>
            </a:r>
            <a:r>
              <a:rPr lang="en-US" b="1" dirty="0"/>
              <a:t>education levels</a:t>
            </a:r>
            <a:r>
              <a:rPr lang="en-US" dirty="0"/>
              <a:t>, </a:t>
            </a:r>
            <a:r>
              <a:rPr lang="en-US" b="1" dirty="0"/>
              <a:t>family responsibilities</a:t>
            </a:r>
            <a:r>
              <a:rPr lang="en-US" dirty="0"/>
              <a:t> (children, pets), and </a:t>
            </a:r>
            <a:r>
              <a:rPr lang="en-US" b="1" dirty="0"/>
              <a:t>age groups</a:t>
            </a:r>
            <a:r>
              <a:rPr lang="en-US" dirty="0"/>
              <a:t> show higher absence rates.</a:t>
            </a:r>
          </a:p>
          <a:p>
            <a:r>
              <a:rPr lang="en-US" dirty="0"/>
              <a:t>Seasons also influence absenteeism trends, with noticeable peaks during specific months.</a:t>
            </a:r>
          </a:p>
          <a:p>
            <a:r>
              <a:rPr lang="en-US" b="1" dirty="0"/>
              <a:t>Insight:</a:t>
            </a:r>
            <a:br>
              <a:rPr lang="en-US" dirty="0"/>
            </a:br>
            <a:r>
              <a:rPr lang="en-US" dirty="0"/>
              <a:t>Absenteeism is influenced by both personal and environmental factors. HR can use these patterns to forecast workforce shortages, plan interventions during seasonal spikes, and support demographics that show higher stress or workload imbalance.</a:t>
            </a:r>
          </a:p>
          <a:p>
            <a:br>
              <a:rPr lang="en-US" dirty="0"/>
            </a:br>
            <a:endParaRPr lang="en-US" dirty="0"/>
          </a:p>
          <a:p>
            <a:endParaRPr lang="en-IN" dirty="0"/>
          </a:p>
        </p:txBody>
      </p:sp>
    </p:spTree>
    <p:extLst>
      <p:ext uri="{BB962C8B-B14F-4D97-AF65-F5344CB8AC3E}">
        <p14:creationId xmlns:p14="http://schemas.microsoft.com/office/powerpoint/2010/main" val="1706885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2CD694-1E8A-D698-5AE5-05CE291B2DB8}"/>
              </a:ext>
            </a:extLst>
          </p:cNvPr>
          <p:cNvSpPr/>
          <p:nvPr/>
        </p:nvSpPr>
        <p:spPr>
          <a:xfrm>
            <a:off x="626962" y="552691"/>
            <a:ext cx="10938076" cy="57526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69A348D7-90C2-39A7-D307-08E285CA3431}"/>
              </a:ext>
            </a:extLst>
          </p:cNvPr>
          <p:cNvSpPr txBox="1"/>
          <p:nvPr/>
        </p:nvSpPr>
        <p:spPr>
          <a:xfrm>
            <a:off x="846881" y="1006998"/>
            <a:ext cx="10718157" cy="4401205"/>
          </a:xfrm>
          <a:prstGeom prst="rect">
            <a:avLst/>
          </a:prstGeom>
          <a:noFill/>
        </p:spPr>
        <p:txBody>
          <a:bodyPr wrap="square" rtlCol="0">
            <a:spAutoFit/>
          </a:bodyPr>
          <a:lstStyle/>
          <a:p>
            <a:r>
              <a:rPr lang="en-US" sz="2000" b="1" dirty="0"/>
              <a:t>5️⃣ Lifestyle Habits Strongly Correlate With Absence</a:t>
            </a:r>
          </a:p>
          <a:p>
            <a:r>
              <a:rPr lang="en-US" sz="2000" dirty="0"/>
              <a:t>Employees with lifestyle risk factors—such as smoking or drinking—tend to show higher absenteeism compared to those without these habits.</a:t>
            </a:r>
          </a:p>
          <a:p>
            <a:r>
              <a:rPr lang="en-US" sz="2000" b="1" dirty="0"/>
              <a:t>Insight:</a:t>
            </a:r>
            <a:br>
              <a:rPr lang="en-US" sz="2000" dirty="0"/>
            </a:br>
            <a:r>
              <a:rPr lang="en-US" sz="2000" dirty="0"/>
              <a:t>This supports the business case for investing in wellness, counselling, and preventive health programs, as these groups account for a disproportionate share of absenteeism hours.</a:t>
            </a:r>
          </a:p>
          <a:p>
            <a:endParaRPr lang="en-US" sz="2000" dirty="0"/>
          </a:p>
          <a:p>
            <a:br>
              <a:rPr lang="en-US" sz="2000" dirty="0"/>
            </a:br>
            <a:endParaRPr lang="en-US" sz="2000" dirty="0"/>
          </a:p>
          <a:p>
            <a:r>
              <a:rPr lang="en-US" sz="2000" b="1" dirty="0"/>
              <a:t>6️⃣ BMI Distribution Indicates Long-Term Health Risks</a:t>
            </a:r>
          </a:p>
          <a:p>
            <a:r>
              <a:rPr lang="en-US" sz="2000" dirty="0"/>
              <a:t>A large portion of the workforce falls into </a:t>
            </a:r>
            <a:r>
              <a:rPr lang="en-US" sz="2000" b="1" dirty="0"/>
              <a:t>Overweight or Obese</a:t>
            </a:r>
            <a:r>
              <a:rPr lang="en-US" sz="2000" dirty="0"/>
              <a:t> BMI categories.</a:t>
            </a:r>
          </a:p>
          <a:p>
            <a:r>
              <a:rPr lang="en-US" sz="2000" b="1" dirty="0"/>
              <a:t>Insight:</a:t>
            </a:r>
            <a:br>
              <a:rPr lang="en-US" sz="2000" dirty="0"/>
            </a:br>
            <a:r>
              <a:rPr lang="en-US" sz="2000" dirty="0"/>
              <a:t>This indicates potential long-term health risks and possible future increases in absenteeism or insurance costs. Early wellness programs could mitigate future financial and productivity impacts.</a:t>
            </a:r>
          </a:p>
        </p:txBody>
      </p:sp>
    </p:spTree>
    <p:extLst>
      <p:ext uri="{BB962C8B-B14F-4D97-AF65-F5344CB8AC3E}">
        <p14:creationId xmlns:p14="http://schemas.microsoft.com/office/powerpoint/2010/main" val="1058143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A5C02-1FAF-385D-EC07-066EA2B762D1}"/>
              </a:ext>
            </a:extLst>
          </p:cNvPr>
          <p:cNvSpPr/>
          <p:nvPr/>
        </p:nvSpPr>
        <p:spPr>
          <a:xfrm>
            <a:off x="810228" y="512180"/>
            <a:ext cx="10756739" cy="579602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AFBE0FD0-6E0E-E066-6610-C561D2CF99C3}"/>
              </a:ext>
            </a:extLst>
          </p:cNvPr>
          <p:cNvSpPr txBox="1"/>
          <p:nvPr/>
        </p:nvSpPr>
        <p:spPr>
          <a:xfrm>
            <a:off x="1006996" y="694481"/>
            <a:ext cx="10374775" cy="4832092"/>
          </a:xfrm>
          <a:prstGeom prst="rect">
            <a:avLst/>
          </a:prstGeom>
          <a:noFill/>
        </p:spPr>
        <p:txBody>
          <a:bodyPr wrap="square" rtlCol="0">
            <a:spAutoFit/>
          </a:bodyPr>
          <a:lstStyle/>
          <a:p>
            <a:endParaRPr lang="en-US" sz="3600" b="1" dirty="0"/>
          </a:p>
          <a:p>
            <a:r>
              <a:rPr lang="en-US" sz="3600" b="1" dirty="0"/>
              <a:t>⭐ Conclusion :</a:t>
            </a:r>
          </a:p>
          <a:p>
            <a:endParaRPr lang="en-US" sz="3600" b="1" dirty="0"/>
          </a:p>
          <a:p>
            <a:r>
              <a:rPr lang="en-US" sz="2000" dirty="0"/>
              <a:t>The analysis highlights that employee health, lifestyle habits, and personal demographics have a direct and measurable impact on absenteeism and overall workforce productivity. Only a very small segment of employees meets the company’s ideal wellness and attendance benchmarks, indicating significant opportunities for targeted health improvement initiatives.</a:t>
            </a:r>
          </a:p>
          <a:p>
            <a:r>
              <a:rPr lang="en-US" sz="2000" dirty="0"/>
              <a:t>The compensation distribution further demonstrates how health-related cost savings can be effectively reinvested to benefit employees, reinforcing the value of data-driven HR planning.</a:t>
            </a:r>
          </a:p>
          <a:p>
            <a:r>
              <a:rPr lang="en-US" sz="2000" dirty="0"/>
              <a:t>Overall, the findings provide the HR department with a clear understanding of which employee groups require the most support and which factors contribute most to absenteeism. These insights enable more informed decision-making around wellness programs, attendance policies, and future workforce planning.</a:t>
            </a:r>
          </a:p>
        </p:txBody>
      </p:sp>
    </p:spTree>
    <p:extLst>
      <p:ext uri="{BB962C8B-B14F-4D97-AF65-F5344CB8AC3E}">
        <p14:creationId xmlns:p14="http://schemas.microsoft.com/office/powerpoint/2010/main" val="3855529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C434E7-90A0-3489-8841-74B9DF1CC2AA}"/>
              </a:ext>
            </a:extLst>
          </p:cNvPr>
          <p:cNvSpPr/>
          <p:nvPr/>
        </p:nvSpPr>
        <p:spPr>
          <a:xfrm>
            <a:off x="1068729" y="703162"/>
            <a:ext cx="10417215" cy="54516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78E821A1-BE2D-F292-313B-0C130AD9A49E}"/>
              </a:ext>
            </a:extLst>
          </p:cNvPr>
          <p:cNvSpPr txBox="1"/>
          <p:nvPr/>
        </p:nvSpPr>
        <p:spPr>
          <a:xfrm>
            <a:off x="1678328" y="1452623"/>
            <a:ext cx="9363919" cy="3939540"/>
          </a:xfrm>
          <a:prstGeom prst="rect">
            <a:avLst/>
          </a:prstGeom>
          <a:noFill/>
        </p:spPr>
        <p:txBody>
          <a:bodyPr wrap="square" rtlCol="0">
            <a:spAutoFit/>
          </a:bodyPr>
          <a:lstStyle/>
          <a:p>
            <a:r>
              <a:rPr lang="en-IN" sz="3200" b="1" dirty="0"/>
              <a:t>👤 Author &amp; Contact :</a:t>
            </a:r>
          </a:p>
          <a:p>
            <a:endParaRPr lang="en-IN" sz="3200" b="1" dirty="0"/>
          </a:p>
          <a:p>
            <a:r>
              <a:rPr lang="en-IN" sz="2000" b="1" dirty="0"/>
              <a:t>Author:</a:t>
            </a:r>
            <a:r>
              <a:rPr lang="en-IN" sz="2000" dirty="0"/>
              <a:t> Shree Ganesh</a:t>
            </a:r>
            <a:br>
              <a:rPr lang="en-IN" sz="2000" dirty="0"/>
            </a:br>
            <a:r>
              <a:rPr lang="en-IN" sz="2000" dirty="0"/>
              <a:t>Data Analyst </a:t>
            </a:r>
          </a:p>
          <a:p>
            <a:endParaRPr lang="en-IN" sz="2000" dirty="0"/>
          </a:p>
          <a:p>
            <a:r>
              <a:rPr lang="en-IN" b="1" dirty="0"/>
              <a:t>Email:</a:t>
            </a:r>
            <a:r>
              <a:rPr lang="en-IN" dirty="0"/>
              <a:t> shriganeshbhat0@gmail.com</a:t>
            </a:r>
            <a:br>
              <a:rPr lang="en-IN" dirty="0"/>
            </a:br>
            <a:endParaRPr lang="en-IN" dirty="0"/>
          </a:p>
          <a:p>
            <a:r>
              <a:rPr lang="en-IN" b="1" dirty="0"/>
              <a:t>LinkedIn:</a:t>
            </a:r>
            <a:r>
              <a:rPr lang="en-IN" dirty="0"/>
              <a:t> https://www.linkedin.com/in/shreeganesh-bhat-8a8184398?utm_source=share&amp;utm_campaign=share_via&amp;utm_content=profile&amp;utm_medium=android_app</a:t>
            </a:r>
            <a:br>
              <a:rPr lang="en-IN" dirty="0"/>
            </a:br>
            <a:endParaRPr lang="en-IN" dirty="0"/>
          </a:p>
          <a:p>
            <a:r>
              <a:rPr lang="en-IN" b="1" dirty="0"/>
              <a:t>GitHub:</a:t>
            </a:r>
            <a:r>
              <a:rPr lang="en-IN" dirty="0"/>
              <a:t> https://github.com/shriganeshbhat0-git</a:t>
            </a:r>
          </a:p>
        </p:txBody>
      </p:sp>
    </p:spTree>
    <p:extLst>
      <p:ext uri="{BB962C8B-B14F-4D97-AF65-F5344CB8AC3E}">
        <p14:creationId xmlns:p14="http://schemas.microsoft.com/office/powerpoint/2010/main" val="549136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E00366-9503-CB7B-7EC0-32C6FDA4CE73}"/>
              </a:ext>
            </a:extLst>
          </p:cNvPr>
          <p:cNvSpPr txBox="1"/>
          <p:nvPr/>
        </p:nvSpPr>
        <p:spPr>
          <a:xfrm>
            <a:off x="4190035" y="2673752"/>
            <a:ext cx="7685590" cy="1015663"/>
          </a:xfrm>
          <a:prstGeom prst="rect">
            <a:avLst/>
          </a:prstGeom>
          <a:noFill/>
        </p:spPr>
        <p:txBody>
          <a:bodyPr wrap="square" rtlCol="0">
            <a:spAutoFit/>
          </a:bodyPr>
          <a:lstStyle/>
          <a:p>
            <a:r>
              <a:rPr lang="en-US" sz="6000" dirty="0"/>
              <a:t>Thank you💐</a:t>
            </a:r>
            <a:endParaRPr lang="en-IN" sz="6000" dirty="0"/>
          </a:p>
        </p:txBody>
      </p:sp>
    </p:spTree>
    <p:extLst>
      <p:ext uri="{BB962C8B-B14F-4D97-AF65-F5344CB8AC3E}">
        <p14:creationId xmlns:p14="http://schemas.microsoft.com/office/powerpoint/2010/main" val="741996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2323</Words>
  <Application>Microsoft Office PowerPoint</Application>
  <PresentationFormat>Widescreen</PresentationFormat>
  <Paragraphs>270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Shreeganesh Bhat</dc:creator>
  <cp:lastModifiedBy>Shreeganesh Bhat</cp:lastModifiedBy>
  <cp:revision>1</cp:revision>
  <dcterms:created xsi:type="dcterms:W3CDTF">2025-12-03T13:33:46Z</dcterms:created>
  <dcterms:modified xsi:type="dcterms:W3CDTF">2025-12-03T13:33:46Z</dcterms:modified>
</cp:coreProperties>
</file>